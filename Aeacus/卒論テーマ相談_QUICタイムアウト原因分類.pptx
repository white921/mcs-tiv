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1c6da6f9a242d8" /><Relationship Type="http://schemas.openxmlformats.org/officeDocument/2006/relationships/extended-properties" Target="/docProps/app.xml" Id="R673eec4a3cf744ca" /><Relationship Type="http://schemas.openxmlformats.org/officeDocument/2006/relationships/officeDocument" Target="/ppt/presentation.xml" Id="R90ab64d285814744" /></Relationships>
</file>

<file path=ppt/presentation.xml><?xml version="1.0" encoding="utf-8"?>
<p:presentation xmlns:p="http://schemas.openxmlformats.org/presentationml/2006/main">
  <p:sldMasterIdLst>
    <p:sldMasterId xmlns:r="http://schemas.openxmlformats.org/officeDocument/2006/relationships" id="2147483648" r:id="R1ad0355db23e4f4e"/>
  </p:sldMasterIdLst>
  <p:notesMasterIdLst>
    <p:notesMasterId xmlns:r="http://schemas.openxmlformats.org/officeDocument/2006/relationships" r:id="R8729d5671abe4d19"/>
  </p:notesMasterIdLst>
  <p:sldIdLst>
    <p:sldId xmlns:r="http://schemas.openxmlformats.org/officeDocument/2006/relationships" id="256" r:id="R2c09b36197904c2a"/>
    <p:sldId xmlns:r="http://schemas.openxmlformats.org/officeDocument/2006/relationships" id="257" r:id="R7a52da320add4507"/>
    <p:sldId xmlns:r="http://schemas.openxmlformats.org/officeDocument/2006/relationships" id="258" r:id="R87baef6f02f942a6"/>
    <p:sldId xmlns:r="http://schemas.openxmlformats.org/officeDocument/2006/relationships" id="259" r:id="Ra5a0c61e34554409"/>
    <p:sldId xmlns:r="http://schemas.openxmlformats.org/officeDocument/2006/relationships" id="260" r:id="R3d348bb7cdf542cb"/>
    <p:sldId xmlns:r="http://schemas.openxmlformats.org/officeDocument/2006/relationships" id="261" r:id="R4ff5d2013c2b4301"/>
    <p:sldId xmlns:r="http://schemas.openxmlformats.org/officeDocument/2006/relationships" id="262" r:id="R660537a1b37f4a1a"/>
    <p:sldId xmlns:r="http://schemas.openxmlformats.org/officeDocument/2006/relationships" id="263" r:id="R046fe2fcf2094f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bee3faf004407f" /><Relationship Type="http://schemas.openxmlformats.org/officeDocument/2006/relationships/slideMaster" Target="/ppt/slideMasters/slideMaster1.xml" Id="R1ad0355db23e4f4e" /><Relationship Type="http://schemas.openxmlformats.org/officeDocument/2006/relationships/notesMaster" Target="/ppt/notesMasters/notesMaster1.xml" Id="R8729d5671abe4d19" /><Relationship Type="http://schemas.openxmlformats.org/officeDocument/2006/relationships/presProps" Target="/ppt/presProps.xml" Id="Re6f37e10ebb044e4" /><Relationship Type="http://schemas.openxmlformats.org/officeDocument/2006/relationships/tableStyles" Target="/ppt/tableStyles.xml" Id="R205128ce95384b39" /><Relationship Type="http://schemas.openxmlformats.org/officeDocument/2006/relationships/slide" Target="/ppt/slides/slide1.xml" Id="R2c09b36197904c2a" /><Relationship Type="http://schemas.openxmlformats.org/officeDocument/2006/relationships/slide" Target="/ppt/slides/slide2.xml" Id="R7a52da320add4507" /><Relationship Type="http://schemas.openxmlformats.org/officeDocument/2006/relationships/slide" Target="/ppt/slides/slide3.xml" Id="R87baef6f02f942a6" /><Relationship Type="http://schemas.openxmlformats.org/officeDocument/2006/relationships/slide" Target="/ppt/slides/slide4.xml" Id="Ra5a0c61e34554409" /><Relationship Type="http://schemas.openxmlformats.org/officeDocument/2006/relationships/slide" Target="/ppt/slides/slide5.xml" Id="R3d348bb7cdf542cb" /><Relationship Type="http://schemas.openxmlformats.org/officeDocument/2006/relationships/slide" Target="/ppt/slides/slide6.xml" Id="R4ff5d2013c2b4301" /><Relationship Type="http://schemas.openxmlformats.org/officeDocument/2006/relationships/slide" Target="/ppt/slides/slide7.xml" Id="R660537a1b37f4a1a" /><Relationship Type="http://schemas.openxmlformats.org/officeDocument/2006/relationships/slide" Target="/ppt/slides/slide8.xml" Id="R046fe2fcf2094f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3c74758e3e4e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67cf32f73d45e3" /><Relationship Type="http://schemas.openxmlformats.org/officeDocument/2006/relationships/notesMaster" Target="/ppt/notesMasters/notesMaster1.xml" Id="R98ea8399629049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7089b373224dbe" /><Relationship Type="http://schemas.openxmlformats.org/officeDocument/2006/relationships/notesMaster" Target="/ppt/notesMasters/notesMaster1.xml" Id="R1ffc57fbf3c547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f506ea2bfb4035" /><Relationship Type="http://schemas.openxmlformats.org/officeDocument/2006/relationships/notesMaster" Target="/ppt/notesMasters/notesMaster1.xml" Id="R169a46dd07b842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0c91c28bf7488e" /><Relationship Type="http://schemas.openxmlformats.org/officeDocument/2006/relationships/notesMaster" Target="/ppt/notesMasters/notesMaster1.xml" Id="R8063d38bc2a041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e10cdd9b3b4b6f" /><Relationship Type="http://schemas.openxmlformats.org/officeDocument/2006/relationships/notesMaster" Target="/ppt/notesMasters/notesMaster1.xml" Id="R25ad916c477440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e6709f87ed4f7e" /><Relationship Type="http://schemas.openxmlformats.org/officeDocument/2006/relationships/notesMaster" Target="/ppt/notesMasters/notesMaster1.xml" Id="Ra1e30d95579448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1291120c3243ff" /><Relationship Type="http://schemas.openxmlformats.org/officeDocument/2006/relationships/notesMaster" Target="/ppt/notesMasters/notesMaster1.xml" Id="R820efd63efac41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1ed7e11d3f4a0d" /><Relationship Type="http://schemas.openxmlformats.org/officeDocument/2006/relationships/notesMaster" Target="/ppt/notesMasters/notesMaster1.xml" Id="Re0d02bd323034d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QUIC接続のタイムアウト原因を分類し、DNSキャッシュ制御の改善可能性を調べるというテーマ案について、卒論として妥当かご相談したいです。実装方法の細部を決めていただくためではなく、研究の意義、先行研究との差、検証可能性、規模感を踏まえて、テーマとして成立するかをご判断いただくことが目的です。</a:t>
            </a:r>
          </a:p>
          <a:p xmlns:a="http://schemas.openxmlformats.org/drawingml/2006/main">
            <a:r>
              <a:t/>
            </a:r>
          </a:p>
          <a:p xmlns:a="http://schemas.openxmlformats.org/drawingml/2006/main">
            <a:r>
              <a:t>[Sources]</a:t>
            </a:r>
          </a:p>
          <a:p xmlns:a="http://schemas.openxmlformats.org/drawingml/2006/main">
            <a:r>
              <a:t>Aeacus/Aeacus_論文詳細まとめ.html</a:t>
            </a:r>
          </a:p>
          <a:p xmlns:a="http://schemas.openxmlformats.org/drawingml/2006/main">
            <a:r>
              <a:t>Aeacus/README.md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ず背景です。DNSは、example.comのようなドメイン名をIPアドレスへ変換します。その結果はTTL、つまりキャッシュとして使ってよい時間の間、保存されます。問い合わせを減らせる一方で、サーバのIPが変わった直後は古いIPが残る可能性があります。QUICはUDP上でTLSを組み込んだ接続開始を行うため、その古いIPへ接続しようとするとタイムアウトにつながる場合があります。</a:t>
            </a:r>
          </a:p>
          <a:p xmlns:a="http://schemas.openxmlformats.org/drawingml/2006/main">
            <a:r>
              <a:t/>
            </a:r>
          </a:p>
          <a:p xmlns:a="http://schemas.openxmlformats.org/drawingml/2006/main">
            <a:r>
              <a:t>[Sources]</a:t>
            </a:r>
          </a:p>
          <a:p xmlns:a="http://schemas.openxmlformats.org/drawingml/2006/main">
            <a:r>
              <a:t>Aeacus/Aeacus_論文詳細まとめ.html - DNS/TTLとQUICの背景説明</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先行研究Aeacusでは、5Gコア内のresolverがUEからのQUIC Initialを受け取ります。Initialに含まれるSNI、つまり接続先ドメイン名を手掛かりにDNS解決をし、宛先を実サーバへ書き換えて転送します。DNS応答をUEへ返してから接続を始める待ちを、接続開始の経路から外す点が中心です。また、QUICの接続結果をDNSキャッシュの制御にも使います。ここまでがAeacusの仕組みで、次からが今回の追加調査です。</a:t>
            </a:r>
          </a:p>
          <a:p xmlns:a="http://schemas.openxmlformats.org/drawingml/2006/main">
            <a:r>
              <a:t/>
            </a:r>
          </a:p>
          <a:p xmlns:a="http://schemas.openxmlformats.org/drawingml/2006/main">
            <a:r>
              <a:t>[Sources]</a:t>
            </a:r>
          </a:p>
          <a:p xmlns:a="http://schemas.openxmlformats.org/drawingml/2006/main">
            <a:r>
              <a:t>Aeacus/Aeacus_論文詳細まとめ.html - Aeacusのアーキテクチャとキャッシュ管理</a:t>
            </a:r>
          </a:p>
          <a:p xmlns:a="http://schemas.openxmlformats.org/drawingml/2006/main">
            <a:r>
              <a:t>Aeacus_upstream/submodules/quiche/quiche/examples/quic-resolver.rs - SNI抽出、DNS問い合わせ、Initial転送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acusは接続失敗をキャッシュ制御のきっかけに使いますが、タイムアウトの原因が古いIPなのかを詳しく分けることは主目的ではありません。古いIP以外にも、一時的なパケット損失、輻輳、サーバの一時停止、継続的なネットワーク障害などがあり得ます。そこで、タイムアウトのうち本当に古いIPが原因と考えられるものがどの程度あるのか、追加で調べる余地があると考えています。Aeacusの欠陥という意味ではなく、先行研究に追加できる調査の観点です。</a:t>
            </a:r>
          </a:p>
          <a:p xmlns:a="http://schemas.openxmlformats.org/drawingml/2006/main">
            <a:r>
              <a:t/>
            </a:r>
          </a:p>
          <a:p xmlns:a="http://schemas.openxmlformats.org/drawingml/2006/main">
            <a:r>
              <a:t>[Sources]</a:t>
            </a:r>
          </a:p>
          <a:p xmlns:a="http://schemas.openxmlformats.org/drawingml/2006/main">
            <a:r>
              <a:t>Aeacus/Aeacus_論文詳細まとめ.html - QUIC monitorの成否推論と限界</a:t>
            </a:r>
          </a:p>
          <a:p xmlns:a="http://schemas.openxmlformats.org/drawingml/2006/main">
            <a:r>
              <a:t>Aeacus_upstream/submodules/quiche/quiche/examples/quic-monitor.rs - Short headerを成功信号として扱う実装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研究目的は、Aeacusで観測されるQUICタイムアウトを、古いIPによる失敗とそれ以外に分類し、その結果をDNSキャッシュ制御に利用できる可能性を調べることです。最初の接続がタイムアウトした場合に、最新DNSのIP、同じIPへの新しい接続結果、DNSが変わった場合の新IPへの接続結果を合わせて見ます。ここで同じIPへ新しい接続をするのは、PTOのように同じ接続内で再送する機構の代わりではありません。原因を測定・分類するための一回だけの新規接続です。</a:t>
            </a:r>
          </a:p>
          <a:p xmlns:a="http://schemas.openxmlformats.org/drawingml/2006/main">
            <a:r>
              <a:t/>
            </a:r>
          </a:p>
          <a:p xmlns:a="http://schemas.openxmlformats.org/drawingml/2006/main">
            <a:r>
              <a:t>[Sources]</a:t>
            </a:r>
          </a:p>
          <a:p xmlns:a="http://schemas.openxmlformats.org/drawingml/2006/main">
            <a:r>
              <a:t>Aeacus/README.md - 最小実験の測定手順</a:t>
            </a:r>
          </a:p>
          <a:p xmlns:a="http://schemas.openxmlformats.org/drawingml/2006/main">
            <a:r>
              <a:t>Aeacus/Aeacus_論文詳細まとめ.html - QUIC monitorとキャッシュ制御</a:t>
            </a:r>
          </a:p>
          <a:p xmlns:a="http://schemas.openxmlformats.org/drawingml/2006/main">
            <a:r>
              <a:t>RFC 9002 - PTOは同一QUIC接続内の損失回復機構（説明上の区別）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分類案です。DNSが変化し、同じIPでは失敗し、新しいIPで成功した場合は、古いIPが原因である可能性が高いとします。一方、DNSが変わっていないのに同じIPへの新しい接続が成功した場合は、一時的障害の可能性があります。同じIPでも再び失敗した場合は、DNS以外の継続障害または原因不明として残します。最後に、DNSが変化しても新旧IPの両方で接続できる場合は、DNS変更だけで古いIPが失敗原因だったとは言えません。この分類の正しさを最初から断定するのではなく、観測可能性を検証するための仮の整理です。</a:t>
            </a:r>
          </a:p>
          <a:p xmlns:a="http://schemas.openxmlformats.org/drawingml/2006/main">
            <a:r>
              <a:t/>
            </a:r>
          </a:p>
          <a:p xmlns:a="http://schemas.openxmlformats.org/drawingml/2006/main">
            <a:r>
              <a:t>[Sources]</a:t>
            </a:r>
          </a:p>
          <a:p xmlns:a="http://schemas.openxmlformats.org/drawingml/2006/main">
            <a:r>
              <a:t>Aeacus/README.md - シナリオと分類定義</a:t>
            </a:r>
          </a:p>
          <a:p xmlns:a="http://schemas.openxmlformats.org/drawingml/2006/main">
            <a:r>
              <a:t>Aeacus/results/summary.json - 5シナリオの集計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原因分類用の簡易実験を作成し、障害なし、一時的なUDP破棄、古いIP、継続障害、DNSは変化するが旧IPも復旧する、という5種類を各20回、合計100回実行しました。人工的に設定した障害を想定した分類へ分けられることは確認できています。ただし、これは実ネットワークで原因がどの割合で起きるかを示すものではありません。今後はAeacusの最小再現環境でqlog、DNS応答、接続結果を集め、原因別の件数と割合を分析してから、キャッシュ制御を改善する価値を判断したいです。Aeacus全体は未再現で、公式コードは基礎部品の動作確認段階です。</a:t>
            </a:r>
          </a:p>
          <a:p xmlns:a="http://schemas.openxmlformats.org/drawingml/2006/main">
            <a:r>
              <a:t/>
            </a:r>
          </a:p>
          <a:p xmlns:a="http://schemas.openxmlformats.org/drawingml/2006/main">
            <a:r>
              <a:t>[Sources]</a:t>
            </a:r>
          </a:p>
          <a:p xmlns:a="http://schemas.openxmlformats.org/drawingml/2006/main">
            <a:r>
              <a:t>Aeacus/results/summary.json - 5シナリオ各20回、合計100回、all_matched_expected=true</a:t>
            </a:r>
          </a:p>
          <a:p xmlns:a="http://schemas.openxmlformats.org/drawingml/2006/main">
            <a:r>
              <a:t>Aeacus/results/trials.csv - 試行別集計</a:t>
            </a:r>
          </a:p>
          <a:p xmlns:a="http://schemas.openxmlformats.org/drawingml/2006/main">
            <a:r>
              <a:t>Aeacus/README.md - 簡易実験の制約</a:t>
            </a:r>
          </a:p>
          <a:p xmlns:a="http://schemas.openxmlformats.org/drawingml/2006/main">
            <a:r>
              <a:t>Aeacus_upstream/submodules/quiche/quiche/examples/quic-resolver.rs</a:t>
            </a:r>
          </a:p>
          <a:p xmlns:a="http://schemas.openxmlformats.org/drawingml/2006/main">
            <a:r>
              <a:t>Aeacus_upstream/submodules/quiche/quiche/examples/quic-monitor.rs</a:t>
            </a:r>
          </a:p>
          <a:p xmlns:a="http://schemas.openxmlformats.org/drawingml/2006/main">
            <a:r>
              <a:t>Aeacus_upstream/src/aeacus/dns_legacy_aio.py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に、相談したいことはこの一点です。Aeacusを先行研究として、QUICタイムアウトの原因分類とDNSキャッシュ制御の改善可能性を調べるテーマが、卒論として成立するかご意見をいただきたいです。先行研究との差分、研究としての新規性や有用性、そして学部卒論として検証可能な規模かという観点を含めて、テーマ全体の妥当性をご判断いただければと思います。実装方法の細部を決めていただくための相談ではありません。</a:t>
            </a:r>
          </a:p>
          <a:p xmlns:a="http://schemas.openxmlformats.org/drawingml/2006/main">
            <a:r>
              <a:t/>
            </a:r>
          </a:p>
          <a:p xmlns:a="http://schemas.openxmlformats.org/drawingml/2006/main">
            <a:r>
              <a:t>[Sources]</a:t>
            </a:r>
          </a:p>
          <a:p xmlns:a="http://schemas.openxmlformats.org/drawingml/2006/main">
            <a:r>
              <a:t>Aeacus/README.md</a:t>
            </a:r>
          </a:p>
          <a:p xmlns:a="http://schemas.openxmlformats.org/drawingml/2006/main">
            <a:r>
              <a:t>Aeacus/Aeacus_論文詳細まとめ.html</a:t>
            </a:r>
          </a:p>
          <a:p xmlns:a="http://schemas.openxmlformats.org/drawingml/2006/main">
            <a:r>
              <a:t>Aeacus/results/summary.json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7d6b386a2c4c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f395bbeaa44fb6" /><Relationship Type="http://schemas.openxmlformats.org/officeDocument/2006/relationships/slideLayout" Target="/ppt/slideLayouts/slideLayout1.xml" Id="Rba5a7633770143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5a7633770143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03dd8eb26248c5" /><Relationship Type="http://schemas.openxmlformats.org/officeDocument/2006/relationships/notesSlide" Target="/ppt/notesSlides/notesSlide1.xml" Id="Rc75a8c40029a4b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b4c47c90244ff2" /><Relationship Type="http://schemas.openxmlformats.org/officeDocument/2006/relationships/notesSlide" Target="/ppt/notesSlides/notesSlide2.xml" Id="Rf60656d3ee5242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e8eb47de923427d" /><Relationship Type="http://schemas.openxmlformats.org/officeDocument/2006/relationships/notesSlide" Target="/ppt/notesSlides/notesSlide3.xml" Id="R53bc298fdfee4b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f9cdbdb8ead4205" /><Relationship Type="http://schemas.openxmlformats.org/officeDocument/2006/relationships/notesSlide" Target="/ppt/notesSlides/notesSlide4.xml" Id="Rbc4886d37c3a42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d5fb90ad83d4988" /><Relationship Type="http://schemas.openxmlformats.org/officeDocument/2006/relationships/notesSlide" Target="/ppt/notesSlides/notesSlide5.xml" Id="Rd42e4d3c08114b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6b3746ace947f0" /><Relationship Type="http://schemas.openxmlformats.org/officeDocument/2006/relationships/notesSlide" Target="/ppt/notesSlides/notesSlide6.xml" Id="Re04eb7b0097e44a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55089f73bb84f67" /><Relationship Type="http://schemas.openxmlformats.org/officeDocument/2006/relationships/notesSlide" Target="/ppt/notesSlides/notesSlide7.xml" Id="Rd8e0237d683d4d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cd822ff6894648" /><Relationship Type="http://schemas.openxmlformats.org/officeDocument/2006/relationships/notesSlide" Target="/ppt/notesSlides/notesSlide8.xml" Id="Rfef03be1b9f34d91"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1D97B1-D460-4E4F-8E57-1E49D849AFB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769AA"/>
          </a:solidFill>
          <a:ln xmlns:a="http://schemas.openxmlformats.org/drawingml/2006/main" w="9525">
            <a:solidFill>
              <a:srgbClr val="1769AA"/>
            </a:solidFill>
            <a:prstDash val="solid"/>
          </a:ln>
        </p:spPr>
      </p:sp>
      <p:sp>
        <p:nvSpPr>
          <p:cNvPr id="2" name="">
            <a:extLst xmlns:a="http://schemas.openxmlformats.org/drawingml/2006/main">
              <a:ext uri="{FF2B5EF4-FFF2-40B4-BE49-F238E27FC236}">
                <a16:creationId xmlns:a16="http://schemas.microsoft.com/office/drawing/2014/main" id="{16D4C9CE-31F9-460C-9DA3-7AC496BC8FA7}"/>
              </a:ext>
            </a:extLst>
          </p:cNvPr>
          <p:cNvSpPr>
            <a:spLocks xmlns:a="http://schemas.openxmlformats.org/drawingml/2006/main" noGrp="1"/>
          </p:cNvSpPr>
          <p:nvPr/>
        </p:nvSpPr>
        <p:spPr>
          <a:xfrm xmlns:a="http://schemas.openxmlformats.org/drawingml/2006/main">
            <a:off x="781050" y="952500"/>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769AA"/>
                </a:solidFill>
              </a:defRPr>
            </a:pPr>
            <a:r>
              <a:rPr sz="1350" b="1">
                <a:solidFill>
                  <a:srgbClr val="1769AA"/>
                </a:solidFill>
              </a:rPr>
              <a:t>卒論テーマ相談</a:t>
            </a:r>
          </a:p>
        </p:txBody>
      </p:sp>
      <p:sp>
        <p:nvSpPr>
          <p:cNvPr id="3" name="">
            <a:extLst xmlns:a="http://schemas.openxmlformats.org/drawingml/2006/main">
              <a:ext uri="{FF2B5EF4-FFF2-40B4-BE49-F238E27FC236}">
                <a16:creationId xmlns:a16="http://schemas.microsoft.com/office/drawing/2014/main" id="{6C785195-D288-492C-9020-47BB63F35313}"/>
              </a:ext>
            </a:extLst>
          </p:cNvPr>
          <p:cNvSpPr>
            <a:spLocks xmlns:a="http://schemas.openxmlformats.org/drawingml/2006/main" noGrp="1"/>
          </p:cNvSpPr>
          <p:nvPr/>
        </p:nvSpPr>
        <p:spPr>
          <a:xfrm xmlns:a="http://schemas.openxmlformats.org/drawingml/2006/main">
            <a:off x="781050" y="1466850"/>
            <a:ext cx="9525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102A43"/>
                </a:solidFill>
              </a:defRPr>
            </a:pPr>
            <a:r>
              <a:rPr sz="3300" b="1">
                <a:solidFill>
                  <a:srgbClr val="102A43"/>
                </a:solidFill>
              </a:rPr>
              <a:t>QUIC接続タイムアウト原因の</a:t>
            </a:r>
          </a:p>
          <a:p xmlns:a="http://schemas.openxmlformats.org/drawingml/2006/main">
            <a:pPr algn="l">
              <a:defRPr sz="3300" b="1">
                <a:solidFill>
                  <a:srgbClr val="102A43"/>
                </a:solidFill>
              </a:defRPr>
            </a:pPr>
            <a:r>
              <a:rPr sz="3300" b="1">
                <a:solidFill>
                  <a:srgbClr val="102A43"/>
                </a:solidFill>
              </a:rPr>
              <a:t>分類に基づくDNSキャッシュ制御の検討</a:t>
            </a:r>
          </a:p>
        </p:txBody>
      </p:sp>
      <p:sp>
        <p:nvSpPr>
          <p:cNvPr id="4" name="">
            <a:extLst xmlns:a="http://schemas.openxmlformats.org/drawingml/2006/main">
              <a:ext uri="{FF2B5EF4-FFF2-40B4-BE49-F238E27FC236}">
                <a16:creationId xmlns:a16="http://schemas.microsoft.com/office/drawing/2014/main" id="{9BFB34CB-0595-4C03-BAD6-005225F06B2C}"/>
              </a:ext>
            </a:extLst>
          </p:cNvPr>
          <p:cNvSpPr>
            <a:spLocks xmlns:a="http://schemas.openxmlformats.org/drawingml/2006/main" noGrp="1"/>
          </p:cNvSpPr>
          <p:nvPr/>
        </p:nvSpPr>
        <p:spPr>
          <a:xfrm xmlns:a="http://schemas.openxmlformats.org/drawingml/2006/main">
            <a:off x="809625" y="3105150"/>
            <a:ext cx="600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52616B"/>
                </a:solidFill>
              </a:defRPr>
            </a:pPr>
            <a:r>
              <a:rPr sz="1875" b="0">
                <a:solidFill>
                  <a:srgbClr val="52616B"/>
                </a:solidFill>
              </a:rPr>
              <a:t>Aeacusを先行研究とした卒論テーマ案</a:t>
            </a:r>
          </a:p>
        </p:txBody>
      </p:sp>
      <p:sp>
        <p:nvSpPr>
          <p:cNvPr id="5" name="">
            <a:extLst xmlns:a="http://schemas.openxmlformats.org/drawingml/2006/main">
              <a:ext uri="{FF2B5EF4-FFF2-40B4-BE49-F238E27FC236}">
                <a16:creationId xmlns:a16="http://schemas.microsoft.com/office/drawing/2014/main" id="{C2545E13-F0B7-4548-98EF-4B5450C188EF}"/>
              </a:ext>
            </a:extLst>
          </p:cNvPr>
          <p:cNvSpPr>
            <a:spLocks xmlns:a="http://schemas.openxmlformats.org/drawingml/2006/main" noGrp="1"/>
          </p:cNvSpPr>
          <p:nvPr/>
        </p:nvSpPr>
        <p:spPr>
          <a:xfrm xmlns:a="http://schemas.openxmlformats.org/drawingml/2006/main">
            <a:off x="781050" y="4267200"/>
            <a:ext cx="8743950" cy="876300"/>
          </a:xfrm>
          <a:prstGeom xmlns:a="http://schemas.openxmlformats.org/drawingml/2006/main" prst="roundRect">
            <a:avLst>
              <a:gd name="adj" fmla="val 13043"/>
            </a:avLst>
          </a:prstGeom>
          <a:solidFill xmlns:a="http://schemas.openxmlformats.org/drawingml/2006/main">
            <a:srgbClr val="FFF1E5"/>
          </a:solidFill>
          <a:ln xmlns:a="http://schemas.openxmlformats.org/drawingml/2006/main" w="9525">
            <a:solidFill>
              <a:srgbClr val="E9822A"/>
            </a:solidFill>
            <a:prstDash val="solid"/>
          </a:ln>
        </p:spPr>
      </p:sp>
      <p:sp>
        <p:nvSpPr>
          <p:cNvPr id="6" name="">
            <a:extLst xmlns:a="http://schemas.openxmlformats.org/drawingml/2006/main">
              <a:ext uri="{FF2B5EF4-FFF2-40B4-BE49-F238E27FC236}">
                <a16:creationId xmlns:a16="http://schemas.microsoft.com/office/drawing/2014/main" id="{DC49406E-369C-4425-ACCF-3EC0A38E1175}"/>
              </a:ext>
            </a:extLst>
          </p:cNvPr>
          <p:cNvSpPr>
            <a:spLocks xmlns:a="http://schemas.openxmlformats.org/drawingml/2006/main" noGrp="1"/>
          </p:cNvSpPr>
          <p:nvPr/>
        </p:nvSpPr>
        <p:spPr>
          <a:xfrm xmlns:a="http://schemas.openxmlformats.org/drawingml/2006/main">
            <a:off x="1047750" y="44577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E9822A"/>
                </a:solidFill>
              </a:defRPr>
            </a:pPr>
            <a:r>
              <a:rPr sz="1200" b="1">
                <a:solidFill>
                  <a:srgbClr val="E9822A"/>
                </a:solidFill>
              </a:rPr>
              <a:t>今回の目的</a:t>
            </a:r>
          </a:p>
        </p:txBody>
      </p:sp>
      <p:sp>
        <p:nvSpPr>
          <p:cNvPr id="7" name="">
            <a:extLst xmlns:a="http://schemas.openxmlformats.org/drawingml/2006/main">
              <a:ext uri="{FF2B5EF4-FFF2-40B4-BE49-F238E27FC236}">
                <a16:creationId xmlns:a16="http://schemas.microsoft.com/office/drawing/2014/main" id="{02A005F3-E64D-45D9-8F5E-0D1A91EC43C9}"/>
              </a:ext>
            </a:extLst>
          </p:cNvPr>
          <p:cNvSpPr>
            <a:spLocks xmlns:a="http://schemas.openxmlformats.org/drawingml/2006/main" noGrp="1"/>
          </p:cNvSpPr>
          <p:nvPr/>
        </p:nvSpPr>
        <p:spPr>
          <a:xfrm xmlns:a="http://schemas.openxmlformats.org/drawingml/2006/main">
            <a:off x="1047750" y="4724400"/>
            <a:ext cx="7905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02A43"/>
                </a:solidFill>
              </a:defRPr>
            </a:pPr>
            <a:r>
              <a:rPr sz="2100" b="1">
                <a:solidFill>
                  <a:srgbClr val="102A43"/>
                </a:solidFill>
              </a:rPr>
              <a:t>このテーマが卒論研究として妥当か相談する</a:t>
            </a:r>
          </a:p>
        </p:txBody>
      </p:sp>
      <p:sp>
        <p:nvSpPr>
          <p:cNvPr id="8" name="">
            <a:extLst xmlns:a="http://schemas.openxmlformats.org/drawingml/2006/main">
              <a:ext uri="{FF2B5EF4-FFF2-40B4-BE49-F238E27FC236}">
                <a16:creationId xmlns:a16="http://schemas.microsoft.com/office/drawing/2014/main" id="{896E91C2-AF5D-43FD-BFB2-98B8F128F46A}"/>
              </a:ext>
            </a:extLst>
          </p:cNvPr>
          <p:cNvSpPr>
            <a:spLocks xmlns:a="http://schemas.openxmlformats.org/drawingml/2006/main" noGrp="1"/>
          </p:cNvSpPr>
          <p:nvPr/>
        </p:nvSpPr>
        <p:spPr>
          <a:xfrm xmlns:a="http://schemas.openxmlformats.org/drawingml/2006/main">
            <a:off x="800100" y="57912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718096"/>
                </a:solidFill>
              </a:defRPr>
            </a:pPr>
            <a:r>
              <a:rPr sz="1350" b="0">
                <a:solidFill>
                  <a:srgbClr val="718096"/>
                </a:solidFill>
              </a:rPr>
              <a:t>発表者：学部4年生</a:t>
            </a:r>
          </a:p>
        </p:txBody>
      </p:sp>
    </p:spTree>
    <p:extLst>
      <p:ext uri="{BB962C8B-B14F-4D97-AF65-F5344CB8AC3E}">
        <p14:creationId xmlns:p14="http://schemas.microsoft.com/office/powerpoint/2010/main" val="1632270161"/>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2EC16A0-BE68-4995-A6D5-FF46F46549B5}"/>
              </a:ext>
            </a:extLst>
          </p:cNvPr>
          <p:cNvSpPr>
            <a:spLocks xmlns:a="http://schemas.openxmlformats.org/drawingml/2006/main" noGrp="1"/>
          </p:cNvSpPr>
          <p:nvPr/>
        </p:nvSpPr>
        <p:spPr>
          <a:xfrm xmlns:a="http://schemas.openxmlformats.org/drawingml/2006/main">
            <a:off x="685800" y="400050"/>
            <a:ext cx="2952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769AA"/>
                </a:solidFill>
              </a:defRPr>
            </a:pPr>
            <a:r>
              <a:rPr sz="975" b="1">
                <a:solidFill>
                  <a:srgbClr val="1769AA"/>
                </a:solidFill>
              </a:rPr>
              <a:t>背景</a:t>
            </a:r>
          </a:p>
        </p:txBody>
      </p:sp>
      <p:sp>
        <p:nvSpPr>
          <p:cNvPr id="2" name="">
            <a:extLst xmlns:a="http://schemas.openxmlformats.org/drawingml/2006/main">
              <a:ext uri="{FF2B5EF4-FFF2-40B4-BE49-F238E27FC236}">
                <a16:creationId xmlns:a16="http://schemas.microsoft.com/office/drawing/2014/main" id="{6C4BF3BC-5811-46AA-8C1F-35535DC37595}"/>
              </a:ext>
            </a:extLst>
          </p:cNvPr>
          <p:cNvSpPr>
            <a:spLocks xmlns:a="http://schemas.openxmlformats.org/drawingml/2006/main" noGrp="1"/>
          </p:cNvSpPr>
          <p:nvPr/>
        </p:nvSpPr>
        <p:spPr>
          <a:xfrm xmlns:a="http://schemas.openxmlformats.org/drawingml/2006/main">
            <a:off x="685800" y="685800"/>
            <a:ext cx="1076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02A43"/>
                </a:solidFill>
              </a:defRPr>
            </a:pPr>
            <a:r>
              <a:rPr sz="2700" b="1">
                <a:solidFill>
                  <a:srgbClr val="102A43"/>
                </a:solidFill>
              </a:rPr>
              <a:t>DNSキャッシュのずれは、接続先IPの古さにつながり得る</a:t>
            </a:r>
          </a:p>
        </p:txBody>
      </p:sp>
      <p:sp>
        <p:nvSpPr>
          <p:cNvPr id="3" name="">
            <a:extLst xmlns:a="http://schemas.openxmlformats.org/drawingml/2006/main">
              <a:ext uri="{FF2B5EF4-FFF2-40B4-BE49-F238E27FC236}">
                <a16:creationId xmlns:a16="http://schemas.microsoft.com/office/drawing/2014/main" id="{AD0C657F-41A7-4FF8-B11C-FFF018BF85C6}"/>
              </a:ext>
            </a:extLst>
          </p:cNvPr>
          <p:cNvSpPr>
            <a:spLocks xmlns:a="http://schemas.openxmlformats.org/drawingml/2006/main" noGrp="1"/>
          </p:cNvSpPr>
          <p:nvPr/>
        </p:nvSpPr>
        <p:spPr>
          <a:xfrm xmlns:a="http://schemas.openxmlformats.org/drawingml/2006/main">
            <a:off x="11144250" y="4000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718096"/>
                </a:solidFill>
              </a:defRPr>
            </a:pPr>
            <a:r>
              <a:rPr sz="1050" b="1">
                <a:solidFill>
                  <a:srgbClr val="718096"/>
                </a:solidFill>
              </a:rPr>
              <a:t>02</a:t>
            </a:r>
          </a:p>
        </p:txBody>
      </p:sp>
      <p:sp>
        <p:nvSpPr>
          <p:cNvPr id="4" name="">
            <a:extLst xmlns:a="http://schemas.openxmlformats.org/drawingml/2006/main">
              <a:ext uri="{FF2B5EF4-FFF2-40B4-BE49-F238E27FC236}">
                <a16:creationId xmlns:a16="http://schemas.microsoft.com/office/drawing/2014/main" id="{D165644D-B947-4DFF-8163-EB76B47A9373}"/>
              </a:ext>
            </a:extLst>
          </p:cNvPr>
          <p:cNvSpPr>
            <a:spLocks xmlns:a="http://schemas.openxmlformats.org/drawingml/2006/main" noGrp="1"/>
          </p:cNvSpPr>
          <p:nvPr/>
        </p:nvSpPr>
        <p:spPr>
          <a:xfrm xmlns:a="http://schemas.openxmlformats.org/drawingml/2006/main">
            <a:off x="685800" y="1314450"/>
            <a:ext cx="10820400" cy="19050"/>
          </a:xfrm>
          <a:prstGeom xmlns:a="http://schemas.openxmlformats.org/drawingml/2006/main" prst="rect">
            <a:avLst/>
          </a:prstGeom>
          <a:solidFill xmlns:a="http://schemas.openxmlformats.org/drawingml/2006/main">
            <a:srgbClr val="E8EEF5"/>
          </a:solidFill>
          <a:ln xmlns:a="http://schemas.openxmlformats.org/drawingml/2006/main" w="0">
            <a:solidFill>
              <a:srgbClr val="E8EEF5"/>
            </a:solidFill>
            <a:prstDash val="solid"/>
          </a:ln>
        </p:spPr>
      </p:sp>
      <p:sp>
        <p:nvSpPr>
          <p:cNvPr id="5" name="">
            <a:extLst xmlns:a="http://schemas.openxmlformats.org/drawingml/2006/main">
              <a:ext uri="{FF2B5EF4-FFF2-40B4-BE49-F238E27FC236}">
                <a16:creationId xmlns:a16="http://schemas.microsoft.com/office/drawing/2014/main" id="{C7D17304-8F40-4B80-885E-7B4555D2F6BB}"/>
              </a:ext>
            </a:extLst>
          </p:cNvPr>
          <p:cNvSpPr>
            <a:spLocks xmlns:a="http://schemas.openxmlformats.org/drawingml/2006/main" noGrp="1"/>
          </p:cNvSpPr>
          <p:nvPr/>
        </p:nvSpPr>
        <p:spPr>
          <a:xfrm xmlns:a="http://schemas.openxmlformats.org/drawingml/2006/main">
            <a:off x="876300" y="2238375"/>
            <a:ext cx="2190750" cy="762000"/>
          </a:xfrm>
          <a:prstGeom xmlns:a="http://schemas.openxmlformats.org/drawingml/2006/main" prst="roundRect">
            <a:avLst>
              <a:gd name="adj" fmla="val 15000"/>
            </a:avLst>
          </a:prstGeom>
          <a:solidFill xmlns:a="http://schemas.openxmlformats.org/drawingml/2006/main">
            <a:srgbClr val="E8F2FB"/>
          </a:solidFill>
          <a:ln xmlns:a="http://schemas.openxmlformats.org/drawingml/2006/main" w="9525">
            <a:solidFill>
              <a:srgbClr val="1769AA"/>
            </a:solidFill>
            <a:prstDash val="solid"/>
          </a:ln>
        </p:spPr>
      </p:sp>
      <p:sp>
        <p:nvSpPr>
          <p:cNvPr id="6" name="">
            <a:extLst xmlns:a="http://schemas.openxmlformats.org/drawingml/2006/main">
              <a:ext uri="{FF2B5EF4-FFF2-40B4-BE49-F238E27FC236}">
                <a16:creationId xmlns:a16="http://schemas.microsoft.com/office/drawing/2014/main" id="{7B2CABED-EE8A-48AF-86FD-7F360B53B79C}"/>
              </a:ext>
            </a:extLst>
          </p:cNvPr>
          <p:cNvSpPr>
            <a:spLocks xmlns:a="http://schemas.openxmlformats.org/drawingml/2006/main" noGrp="1"/>
          </p:cNvSpPr>
          <p:nvPr/>
        </p:nvSpPr>
        <p:spPr>
          <a:xfrm xmlns:a="http://schemas.openxmlformats.org/drawingml/2006/main">
            <a:off x="990600" y="2481263"/>
            <a:ext cx="1962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769AA"/>
                </a:solidFill>
              </a:defRPr>
            </a:pPr>
            <a:r>
              <a:rPr sz="1875" b="1">
                <a:solidFill>
                  <a:srgbClr val="1769AA"/>
                </a:solidFill>
              </a:rPr>
              <a:t>example.com</a:t>
            </a:r>
          </a:p>
        </p:txBody>
      </p:sp>
      <p:sp>
        <p:nvSpPr>
          <p:cNvPr id="7" name="">
            <a:extLst xmlns:a="http://schemas.openxmlformats.org/drawingml/2006/main">
              <a:ext uri="{FF2B5EF4-FFF2-40B4-BE49-F238E27FC236}">
                <a16:creationId xmlns:a16="http://schemas.microsoft.com/office/drawing/2014/main" id="{C533997E-BDD9-46BE-B6FE-3ACB4845A9A1}"/>
              </a:ext>
            </a:extLst>
          </p:cNvPr>
          <p:cNvSpPr>
            <a:spLocks xmlns:a="http://schemas.openxmlformats.org/drawingml/2006/main" noGrp="1"/>
          </p:cNvSpPr>
          <p:nvPr/>
        </p:nvSpPr>
        <p:spPr>
          <a:xfrm xmlns:a="http://schemas.openxmlformats.org/drawingml/2006/main">
            <a:off x="4171950" y="2095500"/>
            <a:ext cx="2476500" cy="1047750"/>
          </a:xfrm>
          <a:prstGeom xmlns:a="http://schemas.openxmlformats.org/drawingml/2006/main" prst="roundRect">
            <a:avLst>
              <a:gd name="adj" fmla="val 10909"/>
            </a:avLst>
          </a:prstGeom>
          <a:solidFill xmlns:a="http://schemas.openxmlformats.org/drawingml/2006/main">
            <a:srgbClr val="E8F2FB"/>
          </a:solidFill>
          <a:ln xmlns:a="http://schemas.openxmlformats.org/drawingml/2006/main" w="9525">
            <a:solidFill>
              <a:srgbClr val="1769AA"/>
            </a:solidFill>
            <a:prstDash val="solid"/>
          </a:ln>
        </p:spPr>
      </p:sp>
      <p:sp>
        <p:nvSpPr>
          <p:cNvPr id="8" name="">
            <a:extLst xmlns:a="http://schemas.openxmlformats.org/drawingml/2006/main">
              <a:ext uri="{FF2B5EF4-FFF2-40B4-BE49-F238E27FC236}">
                <a16:creationId xmlns:a16="http://schemas.microsoft.com/office/drawing/2014/main" id="{CBC7CF54-CBEA-46C6-90CC-4D6A172223B3}"/>
              </a:ext>
            </a:extLst>
          </p:cNvPr>
          <p:cNvSpPr>
            <a:spLocks xmlns:a="http://schemas.openxmlformats.org/drawingml/2006/main" noGrp="1"/>
          </p:cNvSpPr>
          <p:nvPr/>
        </p:nvSpPr>
        <p:spPr>
          <a:xfrm xmlns:a="http://schemas.openxmlformats.org/drawingml/2006/main">
            <a:off x="4286250" y="2495550"/>
            <a:ext cx="2247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769AA"/>
                </a:solidFill>
              </a:defRPr>
            </a:pPr>
            <a:r>
              <a:rPr sz="1650" b="1">
                <a:solidFill>
                  <a:srgbClr val="1769AA"/>
                </a:solidFill>
              </a:rPr>
              <a:t>DNS</a:t>
            </a:r>
          </a:p>
          <a:p xmlns:a="http://schemas.openxmlformats.org/drawingml/2006/main">
            <a:pPr algn="ctr">
              <a:defRPr sz="1650" b="1">
                <a:solidFill>
                  <a:srgbClr val="1769AA"/>
                </a:solidFill>
              </a:defRPr>
            </a:pPr>
            <a:r>
              <a:rPr sz="1650" b="1">
                <a:solidFill>
                  <a:srgbClr val="1769AA"/>
                </a:solidFill>
              </a:rPr>
              <a:t>名前をIPへ変換</a:t>
            </a:r>
          </a:p>
        </p:txBody>
      </p:sp>
      <p:sp>
        <p:nvSpPr>
          <p:cNvPr id="9" name="">
            <a:extLst xmlns:a="http://schemas.openxmlformats.org/drawingml/2006/main">
              <a:ext uri="{FF2B5EF4-FFF2-40B4-BE49-F238E27FC236}">
                <a16:creationId xmlns:a16="http://schemas.microsoft.com/office/drawing/2014/main" id="{ECDBCF53-0A91-444B-B784-050D4E94A77E}"/>
              </a:ext>
            </a:extLst>
          </p:cNvPr>
          <p:cNvSpPr>
            <a:spLocks xmlns:a="http://schemas.openxmlformats.org/drawingml/2006/main" noGrp="1"/>
          </p:cNvSpPr>
          <p:nvPr/>
        </p:nvSpPr>
        <p:spPr>
          <a:xfrm xmlns:a="http://schemas.openxmlformats.org/drawingml/2006/main">
            <a:off x="7734300" y="2095500"/>
            <a:ext cx="2762250" cy="1047750"/>
          </a:xfrm>
          <a:prstGeom xmlns:a="http://schemas.openxmlformats.org/drawingml/2006/main" prst="roundRect">
            <a:avLst>
              <a:gd name="adj" fmla="val 10909"/>
            </a:avLst>
          </a:prstGeom>
          <a:solidFill xmlns:a="http://schemas.openxmlformats.org/drawingml/2006/main">
            <a:srgbClr val="E8F2FB"/>
          </a:solidFill>
          <a:ln xmlns:a="http://schemas.openxmlformats.org/drawingml/2006/main" w="9525">
            <a:solidFill>
              <a:srgbClr val="1769AA"/>
            </a:solidFill>
            <a:prstDash val="solid"/>
          </a:ln>
        </p:spPr>
      </p:sp>
      <p:sp>
        <p:nvSpPr>
          <p:cNvPr id="10" name="">
            <a:extLst xmlns:a="http://schemas.openxmlformats.org/drawingml/2006/main">
              <a:ext uri="{FF2B5EF4-FFF2-40B4-BE49-F238E27FC236}">
                <a16:creationId xmlns:a16="http://schemas.microsoft.com/office/drawing/2014/main" id="{0848AD38-B9F0-468D-9FA6-E2E4B3D84F51}"/>
              </a:ext>
            </a:extLst>
          </p:cNvPr>
          <p:cNvSpPr>
            <a:spLocks xmlns:a="http://schemas.openxmlformats.org/drawingml/2006/main" noGrp="1"/>
          </p:cNvSpPr>
          <p:nvPr/>
        </p:nvSpPr>
        <p:spPr>
          <a:xfrm xmlns:a="http://schemas.openxmlformats.org/drawingml/2006/main">
            <a:off x="7848600" y="2500313"/>
            <a:ext cx="25336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769AA"/>
                </a:solidFill>
              </a:defRPr>
            </a:pPr>
            <a:r>
              <a:rPr sz="1575" b="1">
                <a:solidFill>
                  <a:srgbClr val="1769AA"/>
                </a:solidFill>
              </a:rPr>
              <a:t>203.0.113.10</a:t>
            </a:r>
          </a:p>
          <a:p xmlns:a="http://schemas.openxmlformats.org/drawingml/2006/main">
            <a:pPr algn="ctr">
              <a:defRPr sz="1575" b="1">
                <a:solidFill>
                  <a:srgbClr val="1769AA"/>
                </a:solidFill>
              </a:defRPr>
            </a:pPr>
            <a:r>
              <a:rPr sz="1575" b="1">
                <a:solidFill>
                  <a:srgbClr val="1769AA"/>
                </a:solidFill>
              </a:rPr>
              <a:t>（TTLの間キャッシュ）</a:t>
            </a:r>
          </a:p>
        </p:txBody>
      </p:sp>
      <p:cxnSp>
        <p:nvCxnSpPr>
          <p:cNvPr id="32" name=""/>
          <p:cNvCxnSpPr>
            <a:stCxn xmlns:a="http://schemas.openxmlformats.org/drawingml/2006/main" id="5" idx="3"/>
            <a:endCxn xmlns:a="http://schemas.openxmlformats.org/drawingml/2006/main" id="7" idx="1"/>
          </p:cNvCxnSpPr>
          <p:nvPr/>
        </p:nvCxnSpPr>
        <p:spPr>
          <a:xfrm xmlns:a="http://schemas.openxmlformats.org/drawingml/2006/main">
            <a:off x="3067050" y="2619375"/>
            <a:ext cx="1104900" cy="0"/>
          </a:xfrm>
          <a:prstGeom xmlns:a="http://schemas.openxmlformats.org/drawingml/2006/main" prst="straightConnector1">
            <a:avLst/>
          </a:prstGeom>
          <a:ln xmlns:a="http://schemas.openxmlformats.org/drawingml/2006/main" w="28575">
            <a:solidFill>
              <a:srgbClr val="1769AA"/>
            </a:solidFill>
            <a:prstDash val="solid"/>
            <a:tailEnd type="arrow" w="med" len="med"/>
          </a:ln>
        </p:spPr>
      </p:cxnSp>
      <p:cxnSp>
        <p:nvCxnSpPr>
          <p:cNvPr id="33" name=""/>
          <p:cNvCxnSpPr>
            <a:stCxn xmlns:a="http://schemas.openxmlformats.org/drawingml/2006/main" id="7" idx="3"/>
            <a:endCxn xmlns:a="http://schemas.openxmlformats.org/drawingml/2006/main" id="9" idx="1"/>
          </p:cNvCxnSpPr>
          <p:nvPr/>
        </p:nvCxnSpPr>
        <p:spPr>
          <a:xfrm xmlns:a="http://schemas.openxmlformats.org/drawingml/2006/main">
            <a:off x="6648450" y="2619375"/>
            <a:ext cx="1085850" cy="0"/>
          </a:xfrm>
          <a:prstGeom xmlns:a="http://schemas.openxmlformats.org/drawingml/2006/main" prst="straightConnector1">
            <a:avLst/>
          </a:prstGeom>
          <a:ln xmlns:a="http://schemas.openxmlformats.org/drawingml/2006/main" w="28575">
            <a:solidFill>
              <a:srgbClr val="1769AA"/>
            </a:solidFill>
            <a:prstDash val="solid"/>
            <a:tailEnd type="arrow" w="med" len="med"/>
          </a:ln>
        </p:spPr>
      </p:cxnSp>
      <p:sp>
        <p:nvSpPr>
          <p:cNvPr id="13" name="">
            <a:extLst xmlns:a="http://schemas.openxmlformats.org/drawingml/2006/main">
              <a:ext uri="{FF2B5EF4-FFF2-40B4-BE49-F238E27FC236}">
                <a16:creationId xmlns:a16="http://schemas.microsoft.com/office/drawing/2014/main" id="{8F205F18-C8E7-4EFA-BBE1-0FC2C6CC6009}"/>
              </a:ext>
            </a:extLst>
          </p:cNvPr>
          <p:cNvSpPr>
            <a:spLocks xmlns:a="http://schemas.openxmlformats.org/drawingml/2006/main" noGrp="1"/>
          </p:cNvSpPr>
          <p:nvPr/>
        </p:nvSpPr>
        <p:spPr>
          <a:xfrm xmlns:a="http://schemas.openxmlformats.org/drawingml/2006/main">
            <a:off x="1143000" y="1885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52616B"/>
                </a:solidFill>
              </a:defRPr>
            </a:pPr>
            <a:r>
              <a:rPr sz="1275" b="1">
                <a:solidFill>
                  <a:srgbClr val="52616B"/>
                </a:solidFill>
              </a:rPr>
              <a:t>ドメイン名</a:t>
            </a:r>
          </a:p>
        </p:txBody>
      </p:sp>
      <p:sp>
        <p:nvSpPr>
          <p:cNvPr id="14" name="">
            <a:extLst xmlns:a="http://schemas.openxmlformats.org/drawingml/2006/main">
              <a:ext uri="{FF2B5EF4-FFF2-40B4-BE49-F238E27FC236}">
                <a16:creationId xmlns:a16="http://schemas.microsoft.com/office/drawing/2014/main" id="{980F56E6-C424-4CA9-BC7D-81F22F46FE3C}"/>
              </a:ext>
            </a:extLst>
          </p:cNvPr>
          <p:cNvSpPr>
            <a:spLocks xmlns:a="http://schemas.openxmlformats.org/drawingml/2006/main" noGrp="1"/>
          </p:cNvSpPr>
          <p:nvPr/>
        </p:nvSpPr>
        <p:spPr>
          <a:xfrm xmlns:a="http://schemas.openxmlformats.org/drawingml/2006/main">
            <a:off x="8172450" y="18097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52616B"/>
                </a:solidFill>
              </a:defRPr>
            </a:pPr>
            <a:r>
              <a:rPr sz="1275" b="1">
                <a:solidFill>
                  <a:srgbClr val="52616B"/>
                </a:solidFill>
              </a:rPr>
              <a:t>IPアドレス</a:t>
            </a:r>
          </a:p>
        </p:txBody>
      </p:sp>
      <p:sp>
        <p:nvSpPr>
          <p:cNvPr id="15" name="">
            <a:extLst xmlns:a="http://schemas.openxmlformats.org/drawingml/2006/main">
              <a:ext uri="{FF2B5EF4-FFF2-40B4-BE49-F238E27FC236}">
                <a16:creationId xmlns:a16="http://schemas.microsoft.com/office/drawing/2014/main" id="{5C49B545-4D56-4FFE-8191-325E17FBC7AA}"/>
              </a:ext>
            </a:extLst>
          </p:cNvPr>
          <p:cNvSpPr>
            <a:spLocks xmlns:a="http://schemas.openxmlformats.org/drawingml/2006/main" noGrp="1"/>
          </p:cNvSpPr>
          <p:nvPr/>
        </p:nvSpPr>
        <p:spPr>
          <a:xfrm xmlns:a="http://schemas.openxmlformats.org/drawingml/2006/main">
            <a:off x="3790950" y="4210050"/>
            <a:ext cx="4667250" cy="895350"/>
          </a:xfrm>
          <a:prstGeom xmlns:a="http://schemas.openxmlformats.org/drawingml/2006/main" prst="roundRect">
            <a:avLst>
              <a:gd name="adj" fmla="val 12766"/>
            </a:avLst>
          </a:prstGeom>
          <a:solidFill xmlns:a="http://schemas.openxmlformats.org/drawingml/2006/main">
            <a:srgbClr val="E8F5ED"/>
          </a:solidFill>
          <a:ln xmlns:a="http://schemas.openxmlformats.org/drawingml/2006/main" w="9525">
            <a:solidFill>
              <a:srgbClr val="2F855A"/>
            </a:solidFill>
            <a:prstDash val="solid"/>
          </a:ln>
        </p:spPr>
      </p:sp>
      <p:sp>
        <p:nvSpPr>
          <p:cNvPr id="16" name="">
            <a:extLst xmlns:a="http://schemas.openxmlformats.org/drawingml/2006/main">
              <a:ext uri="{FF2B5EF4-FFF2-40B4-BE49-F238E27FC236}">
                <a16:creationId xmlns:a16="http://schemas.microsoft.com/office/drawing/2014/main" id="{19B63DAF-DBAE-4A5A-BBA3-572E05B7548F}"/>
              </a:ext>
            </a:extLst>
          </p:cNvPr>
          <p:cNvSpPr>
            <a:spLocks xmlns:a="http://schemas.openxmlformats.org/drawingml/2006/main" noGrp="1"/>
          </p:cNvSpPr>
          <p:nvPr/>
        </p:nvSpPr>
        <p:spPr>
          <a:xfrm xmlns:a="http://schemas.openxmlformats.org/drawingml/2006/main">
            <a:off x="3905250" y="4529138"/>
            <a:ext cx="44386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2F855A"/>
                </a:solidFill>
              </a:defRPr>
            </a:pPr>
            <a:r>
              <a:rPr sz="1725" b="1">
                <a:solidFill>
                  <a:srgbClr val="2F855A"/>
                </a:solidFill>
              </a:rPr>
              <a:t>QUIC接続開始</a:t>
            </a:r>
          </a:p>
          <a:p xmlns:a="http://schemas.openxmlformats.org/drawingml/2006/main">
            <a:pPr algn="ctr">
              <a:defRPr sz="1725" b="1">
                <a:solidFill>
                  <a:srgbClr val="2F855A"/>
                </a:solidFill>
              </a:defRPr>
            </a:pPr>
            <a:r>
              <a:rPr sz="1725" b="1">
                <a:solidFill>
                  <a:srgbClr val="2F855A"/>
                </a:solidFill>
              </a:rPr>
              <a:t>UDP上でTLSハンドシェイク</a:t>
            </a:r>
          </a:p>
        </p:txBody>
      </p:sp>
      <p:cxnSp>
        <p:nvCxnSpPr>
          <p:cNvPr id="38" name=""/>
          <p:cNvCxnSpPr>
            <a:stCxn xmlns:a="http://schemas.openxmlformats.org/drawingml/2006/main" id="9" idx="2"/>
            <a:endCxn xmlns:a="http://schemas.openxmlformats.org/drawingml/2006/main" id="15" idx="0"/>
          </p:cNvCxnSpPr>
          <p:nvPr/>
        </p:nvCxnSpPr>
        <p:spPr>
          <a:xfrm xmlns:a="http://schemas.openxmlformats.org/drawingml/2006/main" flipH="1">
            <a:off x="6124575" y="3143250"/>
            <a:ext cx="2990850" cy="1066800"/>
          </a:xfrm>
          <a:prstGeom xmlns:a="http://schemas.openxmlformats.org/drawingml/2006/main" prst="straightConnector1">
            <a:avLst/>
          </a:prstGeom>
          <a:ln xmlns:a="http://schemas.openxmlformats.org/drawingml/2006/main" w="28575">
            <a:solidFill>
              <a:srgbClr val="2F855A"/>
            </a:solidFill>
            <a:prstDash val="solid"/>
            <a:tailEnd type="arrow" w="med" len="med"/>
          </a:ln>
        </p:spPr>
      </p:cxnSp>
      <p:sp>
        <p:nvSpPr>
          <p:cNvPr id="18" name="">
            <a:extLst xmlns:a="http://schemas.openxmlformats.org/drawingml/2006/main">
              <a:ext uri="{FF2B5EF4-FFF2-40B4-BE49-F238E27FC236}">
                <a16:creationId xmlns:a16="http://schemas.microsoft.com/office/drawing/2014/main" id="{163F0AEC-C090-4A9F-866A-8C9C2DEEF71F}"/>
              </a:ext>
            </a:extLst>
          </p:cNvPr>
          <p:cNvSpPr>
            <a:spLocks xmlns:a="http://schemas.openxmlformats.org/drawingml/2006/main" noGrp="1"/>
          </p:cNvSpPr>
          <p:nvPr/>
        </p:nvSpPr>
        <p:spPr>
          <a:xfrm xmlns:a="http://schemas.openxmlformats.org/drawingml/2006/main">
            <a:off x="876300" y="5410200"/>
            <a:ext cx="9620250" cy="666750"/>
          </a:xfrm>
          <a:prstGeom xmlns:a="http://schemas.openxmlformats.org/drawingml/2006/main" prst="roundRect">
            <a:avLst>
              <a:gd name="adj" fmla="val 17143"/>
            </a:avLst>
          </a:prstGeom>
          <a:solidFill xmlns:a="http://schemas.openxmlformats.org/drawingml/2006/main">
            <a:srgbClr val="FFF1E5"/>
          </a:solidFill>
          <a:ln xmlns:a="http://schemas.openxmlformats.org/drawingml/2006/main" w="9525">
            <a:solidFill>
              <a:srgbClr val="E9822A"/>
            </a:solidFill>
            <a:prstDash val="solid"/>
          </a:ln>
        </p:spPr>
      </p:sp>
      <p:sp>
        <p:nvSpPr>
          <p:cNvPr id="19" name="">
            <a:extLst xmlns:a="http://schemas.openxmlformats.org/drawingml/2006/main">
              <a:ext uri="{FF2B5EF4-FFF2-40B4-BE49-F238E27FC236}">
                <a16:creationId xmlns:a16="http://schemas.microsoft.com/office/drawing/2014/main" id="{956AC5E2-8A26-4B4E-BF68-E353F31E9D12}"/>
              </a:ext>
            </a:extLst>
          </p:cNvPr>
          <p:cNvSpPr>
            <a:spLocks xmlns:a="http://schemas.openxmlformats.org/drawingml/2006/main" noGrp="1"/>
          </p:cNvSpPr>
          <p:nvPr/>
        </p:nvSpPr>
        <p:spPr>
          <a:xfrm xmlns:a="http://schemas.openxmlformats.org/drawingml/2006/main">
            <a:off x="1143000" y="5629275"/>
            <a:ext cx="904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E9822A"/>
                </a:solidFill>
              </a:defRPr>
            </a:pPr>
            <a:r>
              <a:rPr sz="1725" b="1">
                <a:solidFill>
                  <a:srgbClr val="E9822A"/>
                </a:solidFill>
              </a:rPr>
              <a:t>サーバのIP変更後も、TTLの間は古いIPがキャッシュに残る可能性</a:t>
            </a:r>
          </a:p>
        </p:txBody>
      </p:sp>
      <p:sp>
        <p:nvSpPr>
          <p:cNvPr id="20" name="">
            <a:extLst xmlns:a="http://schemas.openxmlformats.org/drawingml/2006/main">
              <a:ext uri="{FF2B5EF4-FFF2-40B4-BE49-F238E27FC236}">
                <a16:creationId xmlns:a16="http://schemas.microsoft.com/office/drawing/2014/main" id="{C5C053CD-A498-48F0-8C2F-0066550A85FB}"/>
              </a:ext>
            </a:extLst>
          </p:cNvPr>
          <p:cNvSpPr>
            <a:spLocks xmlns:a="http://schemas.openxmlformats.org/drawingml/2006/main" noGrp="1"/>
          </p:cNvSpPr>
          <p:nvPr/>
        </p:nvSpPr>
        <p:spPr>
          <a:xfrm xmlns:a="http://schemas.openxmlformats.org/drawingml/2006/main">
            <a:off x="685800" y="6457950"/>
            <a:ext cx="295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18096"/>
                </a:solidFill>
              </a:defRPr>
            </a:pPr>
            <a:r>
              <a:rPr sz="900" b="0">
                <a:solidFill>
                  <a:srgbClr val="718096"/>
                </a:solidFill>
              </a:rPr>
              <a:t>卒論テーマ相談</a:t>
            </a:r>
          </a:p>
        </p:txBody>
      </p:sp>
      <p:sp>
        <p:nvSpPr>
          <p:cNvPr id="21" name="">
            <a:extLst xmlns:a="http://schemas.openxmlformats.org/drawingml/2006/main">
              <a:ext uri="{FF2B5EF4-FFF2-40B4-BE49-F238E27FC236}">
                <a16:creationId xmlns:a16="http://schemas.microsoft.com/office/drawing/2014/main" id="{45A4F117-4BA0-4973-952E-2BC56924CA22}"/>
              </a:ext>
            </a:extLst>
          </p:cNvPr>
          <p:cNvSpPr>
            <a:spLocks xmlns:a="http://schemas.openxmlformats.org/drawingml/2006/main" noGrp="1"/>
          </p:cNvSpPr>
          <p:nvPr/>
        </p:nvSpPr>
        <p:spPr>
          <a:xfrm xmlns:a="http://schemas.openxmlformats.org/drawingml/2006/main">
            <a:off x="8001000" y="6457950"/>
            <a:ext cx="3505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718096"/>
                </a:solidFill>
              </a:defRPr>
            </a:pPr>
            <a:r>
              <a:rPr sz="900" b="0">
                <a:solidFill>
                  <a:srgbClr val="718096"/>
                </a:solidFill>
              </a:rPr>
              <a:t>Aeacusを先行研究としたテーマ案</a:t>
            </a:r>
          </a:p>
        </p:txBody>
      </p:sp>
    </p:spTree>
    <p:extLst>
      <p:ext uri="{BB962C8B-B14F-4D97-AF65-F5344CB8AC3E}">
        <p14:creationId xmlns:p14="http://schemas.microsoft.com/office/powerpoint/2010/main" val="526409035"/>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99E7F97-D077-470B-AC0A-8549EF5E0940}"/>
              </a:ext>
            </a:extLst>
          </p:cNvPr>
          <p:cNvSpPr>
            <a:spLocks xmlns:a="http://schemas.openxmlformats.org/drawingml/2006/main" noGrp="1"/>
          </p:cNvSpPr>
          <p:nvPr/>
        </p:nvSpPr>
        <p:spPr>
          <a:xfrm xmlns:a="http://schemas.openxmlformats.org/drawingml/2006/main">
            <a:off x="685800" y="400050"/>
            <a:ext cx="2952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769AA"/>
                </a:solidFill>
              </a:defRPr>
            </a:pPr>
            <a:r>
              <a:rPr sz="975" b="1">
                <a:solidFill>
                  <a:srgbClr val="1769AA"/>
                </a:solidFill>
              </a:rPr>
              <a:t>先行研究 AEACUS</a:t>
            </a:r>
          </a:p>
        </p:txBody>
      </p:sp>
      <p:sp>
        <p:nvSpPr>
          <p:cNvPr id="2" name="">
            <a:extLst xmlns:a="http://schemas.openxmlformats.org/drawingml/2006/main">
              <a:ext uri="{FF2B5EF4-FFF2-40B4-BE49-F238E27FC236}">
                <a16:creationId xmlns:a16="http://schemas.microsoft.com/office/drawing/2014/main" id="{784B1C7E-8EE3-4FA3-A6D0-ED2381A6DE55}"/>
              </a:ext>
            </a:extLst>
          </p:cNvPr>
          <p:cNvSpPr>
            <a:spLocks xmlns:a="http://schemas.openxmlformats.org/drawingml/2006/main" noGrp="1"/>
          </p:cNvSpPr>
          <p:nvPr/>
        </p:nvSpPr>
        <p:spPr>
          <a:xfrm xmlns:a="http://schemas.openxmlformats.org/drawingml/2006/main">
            <a:off x="685800" y="685800"/>
            <a:ext cx="1076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02A43"/>
                </a:solidFill>
              </a:defRPr>
            </a:pPr>
            <a:r>
              <a:rPr sz="2700" b="1">
                <a:solidFill>
                  <a:srgbClr val="102A43"/>
                </a:solidFill>
              </a:rPr>
              <a:t>AeacusはDNS解決とQUIC Initial転送を5Gコア内で連結する</a:t>
            </a:r>
          </a:p>
        </p:txBody>
      </p:sp>
      <p:sp>
        <p:nvSpPr>
          <p:cNvPr id="3" name="">
            <a:extLst xmlns:a="http://schemas.openxmlformats.org/drawingml/2006/main">
              <a:ext uri="{FF2B5EF4-FFF2-40B4-BE49-F238E27FC236}">
                <a16:creationId xmlns:a16="http://schemas.microsoft.com/office/drawing/2014/main" id="{D9574126-AFEC-430F-A4BB-DFB2A1C5C2BA}"/>
              </a:ext>
            </a:extLst>
          </p:cNvPr>
          <p:cNvSpPr>
            <a:spLocks xmlns:a="http://schemas.openxmlformats.org/drawingml/2006/main" noGrp="1"/>
          </p:cNvSpPr>
          <p:nvPr/>
        </p:nvSpPr>
        <p:spPr>
          <a:xfrm xmlns:a="http://schemas.openxmlformats.org/drawingml/2006/main">
            <a:off x="11144250" y="4000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718096"/>
                </a:solidFill>
              </a:defRPr>
            </a:pPr>
            <a:r>
              <a:rPr sz="1050" b="1">
                <a:solidFill>
                  <a:srgbClr val="718096"/>
                </a:solidFill>
              </a:rPr>
              <a:t>03</a:t>
            </a:r>
          </a:p>
        </p:txBody>
      </p:sp>
      <p:sp>
        <p:nvSpPr>
          <p:cNvPr id="4" name="">
            <a:extLst xmlns:a="http://schemas.openxmlformats.org/drawingml/2006/main">
              <a:ext uri="{FF2B5EF4-FFF2-40B4-BE49-F238E27FC236}">
                <a16:creationId xmlns:a16="http://schemas.microsoft.com/office/drawing/2014/main" id="{E6AB10C2-3226-45F1-B796-78D4F953A952}"/>
              </a:ext>
            </a:extLst>
          </p:cNvPr>
          <p:cNvSpPr>
            <a:spLocks xmlns:a="http://schemas.openxmlformats.org/drawingml/2006/main" noGrp="1"/>
          </p:cNvSpPr>
          <p:nvPr/>
        </p:nvSpPr>
        <p:spPr>
          <a:xfrm xmlns:a="http://schemas.openxmlformats.org/drawingml/2006/main">
            <a:off x="685800" y="1314450"/>
            <a:ext cx="10820400" cy="19050"/>
          </a:xfrm>
          <a:prstGeom xmlns:a="http://schemas.openxmlformats.org/drawingml/2006/main" prst="rect">
            <a:avLst/>
          </a:prstGeom>
          <a:solidFill xmlns:a="http://schemas.openxmlformats.org/drawingml/2006/main">
            <a:srgbClr val="E8EEF5"/>
          </a:solidFill>
          <a:ln xmlns:a="http://schemas.openxmlformats.org/drawingml/2006/main" w="0">
            <a:solidFill>
              <a:srgbClr val="E8EEF5"/>
            </a:solidFill>
            <a:prstDash val="solid"/>
          </a:ln>
        </p:spPr>
      </p:sp>
      <p:sp>
        <p:nvSpPr>
          <p:cNvPr id="5" name="">
            <a:extLst xmlns:a="http://schemas.openxmlformats.org/drawingml/2006/main">
              <a:ext uri="{FF2B5EF4-FFF2-40B4-BE49-F238E27FC236}">
                <a16:creationId xmlns:a16="http://schemas.microsoft.com/office/drawing/2014/main" id="{77A2D02D-CB8F-4612-A43C-74316807749B}"/>
              </a:ext>
            </a:extLst>
          </p:cNvPr>
          <p:cNvSpPr>
            <a:spLocks xmlns:a="http://schemas.openxmlformats.org/drawingml/2006/main" noGrp="1"/>
          </p:cNvSpPr>
          <p:nvPr/>
        </p:nvSpPr>
        <p:spPr>
          <a:xfrm xmlns:a="http://schemas.openxmlformats.org/drawingml/2006/main">
            <a:off x="800100" y="2714625"/>
            <a:ext cx="1428750" cy="762000"/>
          </a:xfrm>
          <a:prstGeom xmlns:a="http://schemas.openxmlformats.org/drawingml/2006/main" prst="roundRect">
            <a:avLst>
              <a:gd name="adj" fmla="val 15000"/>
            </a:avLst>
          </a:prstGeom>
          <a:solidFill xmlns:a="http://schemas.openxmlformats.org/drawingml/2006/main">
            <a:srgbClr val="E8F2FB"/>
          </a:solidFill>
          <a:ln xmlns:a="http://schemas.openxmlformats.org/drawingml/2006/main" w="9525">
            <a:solidFill>
              <a:srgbClr val="1769AA"/>
            </a:solidFill>
            <a:prstDash val="solid"/>
          </a:ln>
        </p:spPr>
      </p:sp>
      <p:sp>
        <p:nvSpPr>
          <p:cNvPr id="6" name="">
            <a:extLst xmlns:a="http://schemas.openxmlformats.org/drawingml/2006/main">
              <a:ext uri="{FF2B5EF4-FFF2-40B4-BE49-F238E27FC236}">
                <a16:creationId xmlns:a16="http://schemas.microsoft.com/office/drawing/2014/main" id="{7EB5AA1A-4DAE-4E1F-8D99-C619378344C3}"/>
              </a:ext>
            </a:extLst>
          </p:cNvPr>
          <p:cNvSpPr>
            <a:spLocks xmlns:a="http://schemas.openxmlformats.org/drawingml/2006/main" noGrp="1"/>
          </p:cNvSpPr>
          <p:nvPr/>
        </p:nvSpPr>
        <p:spPr>
          <a:xfrm xmlns:a="http://schemas.openxmlformats.org/drawingml/2006/main">
            <a:off x="914400" y="2952750"/>
            <a:ext cx="1200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1769AA"/>
                </a:solidFill>
              </a:defRPr>
            </a:pPr>
            <a:r>
              <a:rPr sz="1950" b="1">
                <a:solidFill>
                  <a:srgbClr val="1769AA"/>
                </a:solidFill>
              </a:rPr>
              <a:t>UE</a:t>
            </a:r>
          </a:p>
        </p:txBody>
      </p:sp>
      <p:sp>
        <p:nvSpPr>
          <p:cNvPr id="7" name="">
            <a:extLst xmlns:a="http://schemas.openxmlformats.org/drawingml/2006/main">
              <a:ext uri="{FF2B5EF4-FFF2-40B4-BE49-F238E27FC236}">
                <a16:creationId xmlns:a16="http://schemas.microsoft.com/office/drawing/2014/main" id="{1A7A36A8-510C-4E30-84A6-6E3E1A9CF549}"/>
              </a:ext>
            </a:extLst>
          </p:cNvPr>
          <p:cNvSpPr>
            <a:spLocks xmlns:a="http://schemas.openxmlformats.org/drawingml/2006/main" noGrp="1"/>
          </p:cNvSpPr>
          <p:nvPr/>
        </p:nvSpPr>
        <p:spPr>
          <a:xfrm xmlns:a="http://schemas.openxmlformats.org/drawingml/2006/main">
            <a:off x="3857625" y="2362200"/>
            <a:ext cx="3810000" cy="1428750"/>
          </a:xfrm>
          <a:prstGeom xmlns:a="http://schemas.openxmlformats.org/drawingml/2006/main" prst="roundRect">
            <a:avLst>
              <a:gd name="adj" fmla="val 8000"/>
            </a:avLst>
          </a:prstGeom>
          <a:solidFill xmlns:a="http://schemas.openxmlformats.org/drawingml/2006/main">
            <a:srgbClr val="E8F2FB"/>
          </a:solidFill>
          <a:ln xmlns:a="http://schemas.openxmlformats.org/drawingml/2006/main" w="9525">
            <a:solidFill>
              <a:srgbClr val="1769AA"/>
            </a:solidFill>
            <a:prstDash val="solid"/>
          </a:ln>
        </p:spPr>
      </p:sp>
      <p:sp>
        <p:nvSpPr>
          <p:cNvPr id="8" name="">
            <a:extLst xmlns:a="http://schemas.openxmlformats.org/drawingml/2006/main">
              <a:ext uri="{FF2B5EF4-FFF2-40B4-BE49-F238E27FC236}">
                <a16:creationId xmlns:a16="http://schemas.microsoft.com/office/drawing/2014/main" id="{74EB1153-9010-4060-B879-A49B65603529}"/>
              </a:ext>
            </a:extLst>
          </p:cNvPr>
          <p:cNvSpPr>
            <a:spLocks xmlns:a="http://schemas.openxmlformats.org/drawingml/2006/main" noGrp="1"/>
          </p:cNvSpPr>
          <p:nvPr/>
        </p:nvSpPr>
        <p:spPr>
          <a:xfrm xmlns:a="http://schemas.openxmlformats.org/drawingml/2006/main">
            <a:off x="3971925" y="2943225"/>
            <a:ext cx="358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769AA"/>
                </a:solidFill>
              </a:defRPr>
            </a:pPr>
            <a:r>
              <a:rPr sz="1800" b="1">
                <a:solidFill>
                  <a:srgbClr val="1769AA"/>
                </a:solidFill>
              </a:rPr>
              <a:t>Aeacus resolver</a:t>
            </a:r>
          </a:p>
          <a:p xmlns:a="http://schemas.openxmlformats.org/drawingml/2006/main">
            <a:pPr algn="ctr">
              <a:defRPr sz="1800" b="1">
                <a:solidFill>
                  <a:srgbClr val="1769AA"/>
                </a:solidFill>
              </a:defRPr>
            </a:pPr>
            <a:r>
              <a:rPr sz="1800" b="1">
                <a:solidFill>
                  <a:srgbClr val="1769AA"/>
                </a:solidFill>
              </a:rPr>
              <a:t>SNI抽出 → DNS解決 → Initial転送</a:t>
            </a:r>
          </a:p>
        </p:txBody>
      </p:sp>
      <p:sp>
        <p:nvSpPr>
          <p:cNvPr id="9" name="">
            <a:extLst xmlns:a="http://schemas.openxmlformats.org/drawingml/2006/main">
              <a:ext uri="{FF2B5EF4-FFF2-40B4-BE49-F238E27FC236}">
                <a16:creationId xmlns:a16="http://schemas.microsoft.com/office/drawing/2014/main" id="{A2C4AAB6-4ECA-4D4B-BD90-3A05439ACECE}"/>
              </a:ext>
            </a:extLst>
          </p:cNvPr>
          <p:cNvSpPr>
            <a:spLocks xmlns:a="http://schemas.openxmlformats.org/drawingml/2006/main" noGrp="1"/>
          </p:cNvSpPr>
          <p:nvPr/>
        </p:nvSpPr>
        <p:spPr>
          <a:xfrm xmlns:a="http://schemas.openxmlformats.org/drawingml/2006/main">
            <a:off x="9525000" y="2714625"/>
            <a:ext cx="1666875" cy="762000"/>
          </a:xfrm>
          <a:prstGeom xmlns:a="http://schemas.openxmlformats.org/drawingml/2006/main" prst="roundRect">
            <a:avLst>
              <a:gd name="adj" fmla="val 15000"/>
            </a:avLst>
          </a:prstGeom>
          <a:solidFill xmlns:a="http://schemas.openxmlformats.org/drawingml/2006/main">
            <a:srgbClr val="E8F5ED"/>
          </a:solidFill>
          <a:ln xmlns:a="http://schemas.openxmlformats.org/drawingml/2006/main" w="9525">
            <a:solidFill>
              <a:srgbClr val="2F855A"/>
            </a:solidFill>
            <a:prstDash val="solid"/>
          </a:ln>
        </p:spPr>
      </p:sp>
      <p:sp>
        <p:nvSpPr>
          <p:cNvPr id="10" name="">
            <a:extLst xmlns:a="http://schemas.openxmlformats.org/drawingml/2006/main">
              <a:ext uri="{FF2B5EF4-FFF2-40B4-BE49-F238E27FC236}">
                <a16:creationId xmlns:a16="http://schemas.microsoft.com/office/drawing/2014/main" id="{089FE1C4-DC20-435B-A027-D6F42DA583B5}"/>
              </a:ext>
            </a:extLst>
          </p:cNvPr>
          <p:cNvSpPr>
            <a:spLocks xmlns:a="http://schemas.openxmlformats.org/drawingml/2006/main" noGrp="1"/>
          </p:cNvSpPr>
          <p:nvPr/>
        </p:nvSpPr>
        <p:spPr>
          <a:xfrm xmlns:a="http://schemas.openxmlformats.org/drawingml/2006/main">
            <a:off x="9639300" y="2962275"/>
            <a:ext cx="14382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F855A"/>
                </a:solidFill>
              </a:defRPr>
            </a:pPr>
            <a:r>
              <a:rPr sz="1800" b="1">
                <a:solidFill>
                  <a:srgbClr val="2F855A"/>
                </a:solidFill>
              </a:rPr>
              <a:t>実サーバ</a:t>
            </a:r>
          </a:p>
        </p:txBody>
      </p:sp>
      <p:cxnSp>
        <p:nvCxnSpPr>
          <p:cNvPr id="33" name=""/>
          <p:cNvCxnSpPr>
            <a:stCxn xmlns:a="http://schemas.openxmlformats.org/drawingml/2006/main" id="5" idx="3"/>
            <a:endCxn xmlns:a="http://schemas.openxmlformats.org/drawingml/2006/main" id="7" idx="1"/>
          </p:cNvCxnSpPr>
          <p:nvPr/>
        </p:nvCxnSpPr>
        <p:spPr>
          <a:xfrm xmlns:a="http://schemas.openxmlformats.org/drawingml/2006/main" flipV="1">
            <a:off x="2228850" y="3076575"/>
            <a:ext cx="1628775" cy="19050"/>
          </a:xfrm>
          <a:prstGeom xmlns:a="http://schemas.openxmlformats.org/drawingml/2006/main" prst="straightConnector1">
            <a:avLst/>
          </a:prstGeom>
          <a:ln xmlns:a="http://schemas.openxmlformats.org/drawingml/2006/main" w="28575">
            <a:solidFill>
              <a:srgbClr val="1769AA"/>
            </a:solidFill>
            <a:prstDash val="solid"/>
            <a:tailEnd type="arrow" w="med" len="med"/>
          </a:ln>
        </p:spPr>
      </p:cxnSp>
      <p:cxnSp>
        <p:nvCxnSpPr>
          <p:cNvPr id="34" name=""/>
          <p:cNvCxnSpPr>
            <a:stCxn xmlns:a="http://schemas.openxmlformats.org/drawingml/2006/main" id="7" idx="3"/>
            <a:endCxn xmlns:a="http://schemas.openxmlformats.org/drawingml/2006/main" id="9" idx="1"/>
          </p:cNvCxnSpPr>
          <p:nvPr/>
        </p:nvCxnSpPr>
        <p:spPr>
          <a:xfrm xmlns:a="http://schemas.openxmlformats.org/drawingml/2006/main">
            <a:off x="7667625" y="3076575"/>
            <a:ext cx="1857375" cy="19050"/>
          </a:xfrm>
          <a:prstGeom xmlns:a="http://schemas.openxmlformats.org/drawingml/2006/main" prst="straightConnector1">
            <a:avLst/>
          </a:prstGeom>
          <a:ln xmlns:a="http://schemas.openxmlformats.org/drawingml/2006/main" w="28575">
            <a:solidFill>
              <a:srgbClr val="1769AA"/>
            </a:solidFill>
            <a:prstDash val="solid"/>
            <a:tailEnd type="arrow" w="med" len="med"/>
          </a:ln>
        </p:spPr>
      </p:cxnSp>
      <p:sp>
        <p:nvSpPr>
          <p:cNvPr id="13" name="">
            <a:extLst xmlns:a="http://schemas.openxmlformats.org/drawingml/2006/main">
              <a:ext uri="{FF2B5EF4-FFF2-40B4-BE49-F238E27FC236}">
                <a16:creationId xmlns:a16="http://schemas.microsoft.com/office/drawing/2014/main" id="{CB3EF43D-B839-479C-9D03-B9B770126AFF}"/>
              </a:ext>
            </a:extLst>
          </p:cNvPr>
          <p:cNvSpPr>
            <a:spLocks xmlns:a="http://schemas.openxmlformats.org/drawingml/2006/main" noGrp="1"/>
          </p:cNvSpPr>
          <p:nvPr/>
        </p:nvSpPr>
        <p:spPr>
          <a:xfrm xmlns:a="http://schemas.openxmlformats.org/drawingml/2006/main">
            <a:off x="2419350" y="28956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769AA"/>
                </a:solidFill>
              </a:defRPr>
            </a:pPr>
            <a:r>
              <a:rPr sz="1350" b="1">
                <a:solidFill>
                  <a:srgbClr val="1769AA"/>
                </a:solidFill>
              </a:rPr>
              <a:t>QUIC Initial</a:t>
            </a:r>
          </a:p>
        </p:txBody>
      </p:sp>
      <p:sp>
        <p:nvSpPr>
          <p:cNvPr id="14" name="">
            <a:extLst xmlns:a="http://schemas.openxmlformats.org/drawingml/2006/main">
              <a:ext uri="{FF2B5EF4-FFF2-40B4-BE49-F238E27FC236}">
                <a16:creationId xmlns:a16="http://schemas.microsoft.com/office/drawing/2014/main" id="{BA4BB203-DBE0-44E1-AF53-1429B04B9FFB}"/>
              </a:ext>
            </a:extLst>
          </p:cNvPr>
          <p:cNvSpPr>
            <a:spLocks xmlns:a="http://schemas.openxmlformats.org/drawingml/2006/main" noGrp="1"/>
          </p:cNvSpPr>
          <p:nvPr/>
        </p:nvSpPr>
        <p:spPr>
          <a:xfrm xmlns:a="http://schemas.openxmlformats.org/drawingml/2006/main">
            <a:off x="7839075" y="32575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769AA"/>
                </a:solidFill>
              </a:defRPr>
            </a:pPr>
            <a:r>
              <a:rPr sz="1200" b="1">
                <a:solidFill>
                  <a:srgbClr val="1769AA"/>
                </a:solidFill>
              </a:rPr>
              <a:t>宛先を書換えて</a:t>
            </a:r>
          </a:p>
          <a:p xmlns:a="http://schemas.openxmlformats.org/drawingml/2006/main">
            <a:pPr algn="ctr">
              <a:defRPr sz="1200" b="1">
                <a:solidFill>
                  <a:srgbClr val="1769AA"/>
                </a:solidFill>
              </a:defRPr>
            </a:pPr>
            <a:r>
              <a:rPr sz="1200" b="1">
                <a:solidFill>
                  <a:srgbClr val="1769AA"/>
                </a:solidFill>
              </a:rPr>
              <a:t>Initialを転送</a:t>
            </a:r>
          </a:p>
        </p:txBody>
      </p:sp>
      <p:sp>
        <p:nvSpPr>
          <p:cNvPr id="15" name="">
            <a:extLst xmlns:a="http://schemas.openxmlformats.org/drawingml/2006/main">
              <a:ext uri="{FF2B5EF4-FFF2-40B4-BE49-F238E27FC236}">
                <a16:creationId xmlns:a16="http://schemas.microsoft.com/office/drawing/2014/main" id="{0A5E6FE6-6F08-4C99-8A06-775ACCD98FA9}"/>
              </a:ext>
            </a:extLst>
          </p:cNvPr>
          <p:cNvSpPr>
            <a:spLocks xmlns:a="http://schemas.openxmlformats.org/drawingml/2006/main" noGrp="1"/>
          </p:cNvSpPr>
          <p:nvPr/>
        </p:nvSpPr>
        <p:spPr>
          <a:xfrm xmlns:a="http://schemas.openxmlformats.org/drawingml/2006/main">
            <a:off x="1428750" y="4667250"/>
            <a:ext cx="933450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9525">
            <a:solidFill>
              <a:srgbClr val="E8EEF5"/>
            </a:solidFill>
            <a:prstDash val="solid"/>
          </a:ln>
        </p:spPr>
      </p:sp>
      <p:sp>
        <p:nvSpPr>
          <p:cNvPr id="16" name="">
            <a:extLst xmlns:a="http://schemas.openxmlformats.org/drawingml/2006/main">
              <a:ext uri="{FF2B5EF4-FFF2-40B4-BE49-F238E27FC236}">
                <a16:creationId xmlns:a16="http://schemas.microsoft.com/office/drawing/2014/main" id="{42B5BF77-E676-4D18-B6EB-F5BE4095455B}"/>
              </a:ext>
            </a:extLst>
          </p:cNvPr>
          <p:cNvSpPr>
            <a:spLocks xmlns:a="http://schemas.openxmlformats.org/drawingml/2006/main" noGrp="1"/>
          </p:cNvSpPr>
          <p:nvPr/>
        </p:nvSpPr>
        <p:spPr>
          <a:xfrm xmlns:a="http://schemas.openxmlformats.org/drawingml/2006/main">
            <a:off x="1762125" y="4962525"/>
            <a:ext cx="4095750" cy="323850"/>
          </a:xfrm>
          <a:prstGeom xmlns:a="http://schemas.openxmlformats.org/drawingml/2006/main" prst="roundRect">
            <a:avLst>
              <a:gd name="adj" fmla="val 35294"/>
            </a:avLst>
          </a:prstGeom>
          <a:solidFill xmlns:a="http://schemas.openxmlformats.org/drawingml/2006/main">
            <a:srgbClr val="E8F2FB"/>
          </a:solidFill>
          <a:ln xmlns:a="http://schemas.openxmlformats.org/drawingml/2006/main" w="9525">
            <a:solidFill>
              <a:srgbClr val="E8F2FB"/>
            </a:solidFill>
            <a:prstDash val="solid"/>
          </a:ln>
        </p:spPr>
      </p:sp>
      <p:sp>
        <p:nvSpPr>
          <p:cNvPr id="17" name="">
            <a:extLst xmlns:a="http://schemas.openxmlformats.org/drawingml/2006/main">
              <a:ext uri="{FF2B5EF4-FFF2-40B4-BE49-F238E27FC236}">
                <a16:creationId xmlns:a16="http://schemas.microsoft.com/office/drawing/2014/main" id="{32E10C1C-6AFB-4D32-B5D6-E3870FDB6334}"/>
              </a:ext>
            </a:extLst>
          </p:cNvPr>
          <p:cNvSpPr>
            <a:spLocks xmlns:a="http://schemas.openxmlformats.org/drawingml/2006/main" noGrp="1"/>
          </p:cNvSpPr>
          <p:nvPr/>
        </p:nvSpPr>
        <p:spPr>
          <a:xfrm xmlns:a="http://schemas.openxmlformats.org/drawingml/2006/main">
            <a:off x="1838325" y="5029200"/>
            <a:ext cx="3943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769AA"/>
                </a:solidFill>
              </a:defRPr>
            </a:pPr>
            <a:r>
              <a:rPr sz="1125" b="1">
                <a:solidFill>
                  <a:srgbClr val="1769AA"/>
                </a:solidFill>
              </a:rPr>
              <a:t>DNS応答をUEへ返す待ち時間を接続開始から外す</a:t>
            </a:r>
          </a:p>
        </p:txBody>
      </p:sp>
      <p:sp>
        <p:nvSpPr>
          <p:cNvPr id="18" name="">
            <a:extLst xmlns:a="http://schemas.openxmlformats.org/drawingml/2006/main">
              <a:ext uri="{FF2B5EF4-FFF2-40B4-BE49-F238E27FC236}">
                <a16:creationId xmlns:a16="http://schemas.microsoft.com/office/drawing/2014/main" id="{645314AF-8AD6-4ECC-B5DD-C29D30FD5CA2}"/>
              </a:ext>
            </a:extLst>
          </p:cNvPr>
          <p:cNvSpPr>
            <a:spLocks xmlns:a="http://schemas.openxmlformats.org/drawingml/2006/main" noGrp="1"/>
          </p:cNvSpPr>
          <p:nvPr/>
        </p:nvSpPr>
        <p:spPr>
          <a:xfrm xmlns:a="http://schemas.openxmlformats.org/drawingml/2006/main">
            <a:off x="6096000" y="4962525"/>
            <a:ext cx="3905250" cy="323850"/>
          </a:xfrm>
          <a:prstGeom xmlns:a="http://schemas.openxmlformats.org/drawingml/2006/main" prst="roundRect">
            <a:avLst>
              <a:gd name="adj" fmla="val 35294"/>
            </a:avLst>
          </a:prstGeom>
          <a:solidFill xmlns:a="http://schemas.openxmlformats.org/drawingml/2006/main">
            <a:srgbClr val="E8F2FB"/>
          </a:solidFill>
          <a:ln xmlns:a="http://schemas.openxmlformats.org/drawingml/2006/main" w="9525">
            <a:solidFill>
              <a:srgbClr val="E8F2FB"/>
            </a:solidFill>
            <a:prstDash val="solid"/>
          </a:ln>
        </p:spPr>
      </p:sp>
      <p:sp>
        <p:nvSpPr>
          <p:cNvPr id="19" name="">
            <a:extLst xmlns:a="http://schemas.openxmlformats.org/drawingml/2006/main">
              <a:ext uri="{FF2B5EF4-FFF2-40B4-BE49-F238E27FC236}">
                <a16:creationId xmlns:a16="http://schemas.microsoft.com/office/drawing/2014/main" id="{B0BCDB9E-5247-42B1-8AA2-AD36E7CC775B}"/>
              </a:ext>
            </a:extLst>
          </p:cNvPr>
          <p:cNvSpPr>
            <a:spLocks xmlns:a="http://schemas.openxmlformats.org/drawingml/2006/main" noGrp="1"/>
          </p:cNvSpPr>
          <p:nvPr/>
        </p:nvSpPr>
        <p:spPr>
          <a:xfrm xmlns:a="http://schemas.openxmlformats.org/drawingml/2006/main">
            <a:off x="6172200" y="5029200"/>
            <a:ext cx="3752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769AA"/>
                </a:solidFill>
              </a:defRPr>
            </a:pPr>
            <a:r>
              <a:rPr sz="1125" b="1">
                <a:solidFill>
                  <a:srgbClr val="1769AA"/>
                </a:solidFill>
              </a:rPr>
              <a:t>期限切れキャッシュも利用しながらDNSを更新</a:t>
            </a:r>
          </a:p>
        </p:txBody>
      </p:sp>
      <p:sp>
        <p:nvSpPr>
          <p:cNvPr id="20" name="">
            <a:extLst xmlns:a="http://schemas.openxmlformats.org/drawingml/2006/main">
              <a:ext uri="{FF2B5EF4-FFF2-40B4-BE49-F238E27FC236}">
                <a16:creationId xmlns:a16="http://schemas.microsoft.com/office/drawing/2014/main" id="{DD77BCAD-FD64-4E56-8BF8-83AD74DEB68F}"/>
              </a:ext>
            </a:extLst>
          </p:cNvPr>
          <p:cNvSpPr>
            <a:spLocks xmlns:a="http://schemas.openxmlformats.org/drawingml/2006/main" noGrp="1"/>
          </p:cNvSpPr>
          <p:nvPr/>
        </p:nvSpPr>
        <p:spPr>
          <a:xfrm xmlns:a="http://schemas.openxmlformats.org/drawingml/2006/main">
            <a:off x="1857375" y="5953125"/>
            <a:ext cx="847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a:solidFill>
                  <a:srgbClr val="52616B"/>
                </a:solidFill>
              </a:defRPr>
            </a:pPr>
            <a:r>
              <a:rPr sz="1500" b="0">
                <a:solidFill>
                  <a:srgbClr val="52616B"/>
                </a:solidFill>
              </a:rPr>
              <a:t>接続の成功・失敗も、キャッシュ制御の信号として利用</a:t>
            </a:r>
          </a:p>
        </p:txBody>
      </p:sp>
      <p:sp>
        <p:nvSpPr>
          <p:cNvPr id="21" name="">
            <a:extLst xmlns:a="http://schemas.openxmlformats.org/drawingml/2006/main">
              <a:ext uri="{FF2B5EF4-FFF2-40B4-BE49-F238E27FC236}">
                <a16:creationId xmlns:a16="http://schemas.microsoft.com/office/drawing/2014/main" id="{52A65861-2C9C-4400-9C51-C6B282133BD1}"/>
              </a:ext>
            </a:extLst>
          </p:cNvPr>
          <p:cNvSpPr>
            <a:spLocks xmlns:a="http://schemas.openxmlformats.org/drawingml/2006/main" noGrp="1"/>
          </p:cNvSpPr>
          <p:nvPr/>
        </p:nvSpPr>
        <p:spPr>
          <a:xfrm xmlns:a="http://schemas.openxmlformats.org/drawingml/2006/main">
            <a:off x="685800" y="6457950"/>
            <a:ext cx="295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18096"/>
                </a:solidFill>
              </a:defRPr>
            </a:pPr>
            <a:r>
              <a:rPr sz="900" b="0">
                <a:solidFill>
                  <a:srgbClr val="718096"/>
                </a:solidFill>
              </a:rPr>
              <a:t>卒論テーマ相談</a:t>
            </a:r>
          </a:p>
        </p:txBody>
      </p:sp>
      <p:sp>
        <p:nvSpPr>
          <p:cNvPr id="22" name="">
            <a:extLst xmlns:a="http://schemas.openxmlformats.org/drawingml/2006/main">
              <a:ext uri="{FF2B5EF4-FFF2-40B4-BE49-F238E27FC236}">
                <a16:creationId xmlns:a16="http://schemas.microsoft.com/office/drawing/2014/main" id="{D4B3A522-EB46-4D79-8457-D3A8CDF14720}"/>
              </a:ext>
            </a:extLst>
          </p:cNvPr>
          <p:cNvSpPr>
            <a:spLocks xmlns:a="http://schemas.openxmlformats.org/drawingml/2006/main" noGrp="1"/>
          </p:cNvSpPr>
          <p:nvPr/>
        </p:nvSpPr>
        <p:spPr>
          <a:xfrm xmlns:a="http://schemas.openxmlformats.org/drawingml/2006/main">
            <a:off x="8001000" y="6457950"/>
            <a:ext cx="3505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718096"/>
                </a:solidFill>
              </a:defRPr>
            </a:pPr>
            <a:r>
              <a:rPr sz="900" b="0">
                <a:solidFill>
                  <a:srgbClr val="718096"/>
                </a:solidFill>
              </a:rPr>
              <a:t>Aeacusを先行研究としたテーマ案</a:t>
            </a:r>
          </a:p>
        </p:txBody>
      </p:sp>
    </p:spTree>
    <p:extLst>
      <p:ext uri="{BB962C8B-B14F-4D97-AF65-F5344CB8AC3E}">
        <p14:creationId xmlns:p14="http://schemas.microsoft.com/office/powerpoint/2010/main" val="1805559082"/>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9B80923-6836-4ED7-A1BB-1985755B0C16}"/>
              </a:ext>
            </a:extLst>
          </p:cNvPr>
          <p:cNvSpPr>
            <a:spLocks xmlns:a="http://schemas.openxmlformats.org/drawingml/2006/main" noGrp="1"/>
          </p:cNvSpPr>
          <p:nvPr/>
        </p:nvSpPr>
        <p:spPr>
          <a:xfrm xmlns:a="http://schemas.openxmlformats.org/drawingml/2006/main">
            <a:off x="685800" y="400050"/>
            <a:ext cx="2952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769AA"/>
                </a:solidFill>
              </a:defRPr>
            </a:pPr>
            <a:r>
              <a:rPr sz="975" b="1">
                <a:solidFill>
                  <a:srgbClr val="1769AA"/>
                </a:solidFill>
              </a:rPr>
              <a:t>着目した疑問</a:t>
            </a:r>
          </a:p>
        </p:txBody>
      </p:sp>
      <p:sp>
        <p:nvSpPr>
          <p:cNvPr id="2" name="">
            <a:extLst xmlns:a="http://schemas.openxmlformats.org/drawingml/2006/main">
              <a:ext uri="{FF2B5EF4-FFF2-40B4-BE49-F238E27FC236}">
                <a16:creationId xmlns:a16="http://schemas.microsoft.com/office/drawing/2014/main" id="{7927C4B1-7BB7-43DC-BA43-E275697BBB52}"/>
              </a:ext>
            </a:extLst>
          </p:cNvPr>
          <p:cNvSpPr>
            <a:spLocks xmlns:a="http://schemas.openxmlformats.org/drawingml/2006/main" noGrp="1"/>
          </p:cNvSpPr>
          <p:nvPr/>
        </p:nvSpPr>
        <p:spPr>
          <a:xfrm xmlns:a="http://schemas.openxmlformats.org/drawingml/2006/main">
            <a:off x="685800" y="685800"/>
            <a:ext cx="1076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02A43"/>
                </a:solidFill>
              </a:defRPr>
            </a:pPr>
            <a:r>
              <a:rPr sz="2700" b="1">
                <a:solidFill>
                  <a:srgbClr val="102A43"/>
                </a:solidFill>
              </a:rPr>
              <a:t>接続タイムアウトだけでは、原因を特定できない</a:t>
            </a:r>
          </a:p>
        </p:txBody>
      </p:sp>
      <p:sp>
        <p:nvSpPr>
          <p:cNvPr id="3" name="">
            <a:extLst xmlns:a="http://schemas.openxmlformats.org/drawingml/2006/main">
              <a:ext uri="{FF2B5EF4-FFF2-40B4-BE49-F238E27FC236}">
                <a16:creationId xmlns:a16="http://schemas.microsoft.com/office/drawing/2014/main" id="{0108EFBE-26FB-477E-98FD-4D31F905FCE5}"/>
              </a:ext>
            </a:extLst>
          </p:cNvPr>
          <p:cNvSpPr>
            <a:spLocks xmlns:a="http://schemas.openxmlformats.org/drawingml/2006/main" noGrp="1"/>
          </p:cNvSpPr>
          <p:nvPr/>
        </p:nvSpPr>
        <p:spPr>
          <a:xfrm xmlns:a="http://schemas.openxmlformats.org/drawingml/2006/main">
            <a:off x="11144250" y="4000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718096"/>
                </a:solidFill>
              </a:defRPr>
            </a:pPr>
            <a:r>
              <a:rPr sz="1050" b="1">
                <a:solidFill>
                  <a:srgbClr val="718096"/>
                </a:solidFill>
              </a:rPr>
              <a:t>04</a:t>
            </a:r>
          </a:p>
        </p:txBody>
      </p:sp>
      <p:sp>
        <p:nvSpPr>
          <p:cNvPr id="4" name="">
            <a:extLst xmlns:a="http://schemas.openxmlformats.org/drawingml/2006/main">
              <a:ext uri="{FF2B5EF4-FFF2-40B4-BE49-F238E27FC236}">
                <a16:creationId xmlns:a16="http://schemas.microsoft.com/office/drawing/2014/main" id="{E914F113-2A08-40B4-B3B1-000081927D56}"/>
              </a:ext>
            </a:extLst>
          </p:cNvPr>
          <p:cNvSpPr>
            <a:spLocks xmlns:a="http://schemas.openxmlformats.org/drawingml/2006/main" noGrp="1"/>
          </p:cNvSpPr>
          <p:nvPr/>
        </p:nvSpPr>
        <p:spPr>
          <a:xfrm xmlns:a="http://schemas.openxmlformats.org/drawingml/2006/main">
            <a:off x="685800" y="1314450"/>
            <a:ext cx="10820400" cy="19050"/>
          </a:xfrm>
          <a:prstGeom xmlns:a="http://schemas.openxmlformats.org/drawingml/2006/main" prst="rect">
            <a:avLst/>
          </a:prstGeom>
          <a:solidFill xmlns:a="http://schemas.openxmlformats.org/drawingml/2006/main">
            <a:srgbClr val="E8EEF5"/>
          </a:solidFill>
          <a:ln xmlns:a="http://schemas.openxmlformats.org/drawingml/2006/main" w="0">
            <a:solidFill>
              <a:srgbClr val="E8EEF5"/>
            </a:solidFill>
            <a:prstDash val="solid"/>
          </a:ln>
        </p:spPr>
      </p:sp>
      <p:sp>
        <p:nvSpPr>
          <p:cNvPr id="5" name="">
            <a:extLst xmlns:a="http://schemas.openxmlformats.org/drawingml/2006/main">
              <a:ext uri="{FF2B5EF4-FFF2-40B4-BE49-F238E27FC236}">
                <a16:creationId xmlns:a16="http://schemas.microsoft.com/office/drawing/2014/main" id="{EF5E28FB-CD42-400D-B5D0-5E0CCCD0FC6A}"/>
              </a:ext>
            </a:extLst>
          </p:cNvPr>
          <p:cNvSpPr>
            <a:spLocks xmlns:a="http://schemas.openxmlformats.org/drawingml/2006/main" noGrp="1"/>
          </p:cNvSpPr>
          <p:nvPr/>
        </p:nvSpPr>
        <p:spPr>
          <a:xfrm xmlns:a="http://schemas.openxmlformats.org/drawingml/2006/main">
            <a:off x="2952750" y="2514600"/>
            <a:ext cx="6286500" cy="1123950"/>
          </a:xfrm>
          <a:prstGeom xmlns:a="http://schemas.openxmlformats.org/drawingml/2006/main" prst="roundRect">
            <a:avLst>
              <a:gd name="adj" fmla="val 10169"/>
            </a:avLst>
          </a:prstGeom>
          <a:solidFill xmlns:a="http://schemas.openxmlformats.org/drawingml/2006/main">
            <a:srgbClr val="FFF1E5"/>
          </a:solidFill>
          <a:ln xmlns:a="http://schemas.openxmlformats.org/drawingml/2006/main" w="9525">
            <a:solidFill>
              <a:srgbClr val="E9822A"/>
            </a:solidFill>
            <a:prstDash val="solid"/>
          </a:ln>
        </p:spPr>
      </p:sp>
      <p:sp>
        <p:nvSpPr>
          <p:cNvPr id="6" name="">
            <a:extLst xmlns:a="http://schemas.openxmlformats.org/drawingml/2006/main">
              <a:ext uri="{FF2B5EF4-FFF2-40B4-BE49-F238E27FC236}">
                <a16:creationId xmlns:a16="http://schemas.microsoft.com/office/drawing/2014/main" id="{B17C2866-1C52-49C6-B2E6-863A477D4775}"/>
              </a:ext>
            </a:extLst>
          </p:cNvPr>
          <p:cNvSpPr>
            <a:spLocks xmlns:a="http://schemas.openxmlformats.org/drawingml/2006/main" noGrp="1"/>
          </p:cNvSpPr>
          <p:nvPr/>
        </p:nvSpPr>
        <p:spPr>
          <a:xfrm xmlns:a="http://schemas.openxmlformats.org/drawingml/2006/main">
            <a:off x="3238500" y="2724150"/>
            <a:ext cx="571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700" b="1">
                <a:solidFill>
                  <a:srgbClr val="102A43"/>
                </a:solidFill>
              </a:defRPr>
            </a:pPr>
            <a:r>
              <a:rPr sz="2700" b="1">
                <a:solidFill>
                  <a:srgbClr val="102A43"/>
                </a:solidFill>
              </a:rPr>
              <a:t>QUICタイムアウトは、本当に</a:t>
            </a:r>
          </a:p>
          <a:p xmlns:a="http://schemas.openxmlformats.org/drawingml/2006/main">
            <a:pPr algn="ctr">
              <a:defRPr sz="2700" b="1">
                <a:solidFill>
                  <a:srgbClr val="102A43"/>
                </a:solidFill>
              </a:defRPr>
            </a:pPr>
            <a:r>
              <a:rPr sz="2700" b="1">
                <a:solidFill>
                  <a:srgbClr val="102A43"/>
                </a:solidFill>
              </a:rPr>
              <a:t>古いIPが原因なのか？</a:t>
            </a:r>
          </a:p>
        </p:txBody>
      </p:sp>
      <p:sp>
        <p:nvSpPr>
          <p:cNvPr id="7" name="">
            <a:extLst xmlns:a="http://schemas.openxmlformats.org/drawingml/2006/main">
              <a:ext uri="{FF2B5EF4-FFF2-40B4-BE49-F238E27FC236}">
                <a16:creationId xmlns:a16="http://schemas.microsoft.com/office/drawing/2014/main" id="{49176B5B-4E7D-4533-918B-79C4227FD1FA}"/>
              </a:ext>
            </a:extLst>
          </p:cNvPr>
          <p:cNvSpPr>
            <a:spLocks xmlns:a="http://schemas.openxmlformats.org/drawingml/2006/main" noGrp="1"/>
          </p:cNvSpPr>
          <p:nvPr/>
        </p:nvSpPr>
        <p:spPr>
          <a:xfrm xmlns:a="http://schemas.openxmlformats.org/drawingml/2006/main">
            <a:off x="1066800" y="1905000"/>
            <a:ext cx="1619250" cy="762000"/>
          </a:xfrm>
          <a:prstGeom xmlns:a="http://schemas.openxmlformats.org/drawingml/2006/main" prst="roundRect">
            <a:avLst>
              <a:gd name="adj" fmla="val 15000"/>
            </a:avLst>
          </a:prstGeom>
          <a:solidFill xmlns:a="http://schemas.openxmlformats.org/drawingml/2006/main">
            <a:srgbClr val="FFF1E5"/>
          </a:solidFill>
          <a:ln xmlns:a="http://schemas.openxmlformats.org/drawingml/2006/main" w="9525">
            <a:solidFill>
              <a:srgbClr val="E9822A"/>
            </a:solidFill>
            <a:prstDash val="solid"/>
          </a:ln>
        </p:spPr>
      </p:sp>
      <p:sp>
        <p:nvSpPr>
          <p:cNvPr id="8" name="">
            <a:extLst xmlns:a="http://schemas.openxmlformats.org/drawingml/2006/main">
              <a:ext uri="{FF2B5EF4-FFF2-40B4-BE49-F238E27FC236}">
                <a16:creationId xmlns:a16="http://schemas.microsoft.com/office/drawing/2014/main" id="{5B35D378-C743-4935-AD84-FBD11FCB48C5}"/>
              </a:ext>
            </a:extLst>
          </p:cNvPr>
          <p:cNvSpPr>
            <a:spLocks xmlns:a="http://schemas.openxmlformats.org/drawingml/2006/main" noGrp="1"/>
          </p:cNvSpPr>
          <p:nvPr/>
        </p:nvSpPr>
        <p:spPr>
          <a:xfrm xmlns:a="http://schemas.openxmlformats.org/drawingml/2006/main">
            <a:off x="1181100" y="21717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E9822A"/>
                </a:solidFill>
              </a:defRPr>
            </a:pPr>
            <a:r>
              <a:rPr sz="1500" b="1">
                <a:solidFill>
                  <a:srgbClr val="E9822A"/>
                </a:solidFill>
              </a:rPr>
              <a:t>古いIP</a:t>
            </a:r>
          </a:p>
        </p:txBody>
      </p:sp>
      <p:sp>
        <p:nvSpPr>
          <p:cNvPr id="9" name="">
            <a:extLst xmlns:a="http://schemas.openxmlformats.org/drawingml/2006/main">
              <a:ext uri="{FF2B5EF4-FFF2-40B4-BE49-F238E27FC236}">
                <a16:creationId xmlns:a16="http://schemas.microsoft.com/office/drawing/2014/main" id="{B3F03FE6-31FE-4BA4-83E6-A658C7B1A6DD}"/>
              </a:ext>
            </a:extLst>
          </p:cNvPr>
          <p:cNvSpPr>
            <a:spLocks xmlns:a="http://schemas.openxmlformats.org/drawingml/2006/main" noGrp="1"/>
          </p:cNvSpPr>
          <p:nvPr/>
        </p:nvSpPr>
        <p:spPr>
          <a:xfrm xmlns:a="http://schemas.openxmlformats.org/drawingml/2006/main">
            <a:off x="971550" y="4324350"/>
            <a:ext cx="1619250" cy="762000"/>
          </a:xfrm>
          <a:prstGeom xmlns:a="http://schemas.openxmlformats.org/drawingml/2006/main" prst="roundRect">
            <a:avLst>
              <a:gd name="adj" fmla="val 15000"/>
            </a:avLst>
          </a:prstGeom>
          <a:solidFill xmlns:a="http://schemas.openxmlformats.org/drawingml/2006/main">
            <a:srgbClr val="EEF2F6"/>
          </a:solidFill>
          <a:ln xmlns:a="http://schemas.openxmlformats.org/drawingml/2006/main" w="9525">
            <a:solidFill>
              <a:srgbClr val="718096"/>
            </a:solidFill>
            <a:prstDash val="solid"/>
          </a:ln>
        </p:spPr>
      </p:sp>
      <p:sp>
        <p:nvSpPr>
          <p:cNvPr id="10" name="">
            <a:extLst xmlns:a="http://schemas.openxmlformats.org/drawingml/2006/main">
              <a:ext uri="{FF2B5EF4-FFF2-40B4-BE49-F238E27FC236}">
                <a16:creationId xmlns:a16="http://schemas.microsoft.com/office/drawing/2014/main" id="{1DF73088-706A-492A-8BE0-64B4E9162237}"/>
              </a:ext>
            </a:extLst>
          </p:cNvPr>
          <p:cNvSpPr>
            <a:spLocks xmlns:a="http://schemas.openxmlformats.org/drawingml/2006/main" noGrp="1"/>
          </p:cNvSpPr>
          <p:nvPr/>
        </p:nvSpPr>
        <p:spPr>
          <a:xfrm xmlns:a="http://schemas.openxmlformats.org/drawingml/2006/main">
            <a:off x="1085850" y="459105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718096"/>
                </a:solidFill>
              </a:defRPr>
            </a:pPr>
            <a:r>
              <a:rPr sz="1500" b="1">
                <a:solidFill>
                  <a:srgbClr val="718096"/>
                </a:solidFill>
              </a:rPr>
              <a:t>一時的な</a:t>
            </a:r>
          </a:p>
          <a:p xmlns:a="http://schemas.openxmlformats.org/drawingml/2006/main">
            <a:pPr algn="ctr">
              <a:defRPr sz="1500" b="1">
                <a:solidFill>
                  <a:srgbClr val="718096"/>
                </a:solidFill>
              </a:defRPr>
            </a:pPr>
            <a:r>
              <a:rPr sz="1500" b="1">
                <a:solidFill>
                  <a:srgbClr val="718096"/>
                </a:solidFill>
              </a:rPr>
              <a:t>パケット損失</a:t>
            </a:r>
          </a:p>
        </p:txBody>
      </p:sp>
      <p:sp>
        <p:nvSpPr>
          <p:cNvPr id="11" name="">
            <a:extLst xmlns:a="http://schemas.openxmlformats.org/drawingml/2006/main">
              <a:ext uri="{FF2B5EF4-FFF2-40B4-BE49-F238E27FC236}">
                <a16:creationId xmlns:a16="http://schemas.microsoft.com/office/drawing/2014/main" id="{EB7C997C-676E-487D-8B55-E7FE2DD60B96}"/>
              </a:ext>
            </a:extLst>
          </p:cNvPr>
          <p:cNvSpPr>
            <a:spLocks xmlns:a="http://schemas.openxmlformats.org/drawingml/2006/main" noGrp="1"/>
          </p:cNvSpPr>
          <p:nvPr/>
        </p:nvSpPr>
        <p:spPr>
          <a:xfrm xmlns:a="http://schemas.openxmlformats.org/drawingml/2006/main">
            <a:off x="4552950" y="4648200"/>
            <a:ext cx="1619250" cy="762000"/>
          </a:xfrm>
          <a:prstGeom xmlns:a="http://schemas.openxmlformats.org/drawingml/2006/main" prst="roundRect">
            <a:avLst>
              <a:gd name="adj" fmla="val 15000"/>
            </a:avLst>
          </a:prstGeom>
          <a:solidFill xmlns:a="http://schemas.openxmlformats.org/drawingml/2006/main">
            <a:srgbClr val="EEF2F6"/>
          </a:solidFill>
          <a:ln xmlns:a="http://schemas.openxmlformats.org/drawingml/2006/main" w="9525">
            <a:solidFill>
              <a:srgbClr val="718096"/>
            </a:solidFill>
            <a:prstDash val="solid"/>
          </a:ln>
        </p:spPr>
      </p:sp>
      <p:sp>
        <p:nvSpPr>
          <p:cNvPr id="12" name="">
            <a:extLst xmlns:a="http://schemas.openxmlformats.org/drawingml/2006/main">
              <a:ext uri="{FF2B5EF4-FFF2-40B4-BE49-F238E27FC236}">
                <a16:creationId xmlns:a16="http://schemas.microsoft.com/office/drawing/2014/main" id="{D52F0ADE-B6D9-4DDE-AD71-5D490EFEC817}"/>
              </a:ext>
            </a:extLst>
          </p:cNvPr>
          <p:cNvSpPr>
            <a:spLocks xmlns:a="http://schemas.openxmlformats.org/drawingml/2006/main" noGrp="1"/>
          </p:cNvSpPr>
          <p:nvPr/>
        </p:nvSpPr>
        <p:spPr>
          <a:xfrm xmlns:a="http://schemas.openxmlformats.org/drawingml/2006/main">
            <a:off x="4667250" y="49149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718096"/>
                </a:solidFill>
              </a:defRPr>
            </a:pPr>
            <a:r>
              <a:rPr sz="1500" b="1">
                <a:solidFill>
                  <a:srgbClr val="718096"/>
                </a:solidFill>
              </a:rPr>
              <a:t>輻輳</a:t>
            </a:r>
          </a:p>
        </p:txBody>
      </p:sp>
      <p:sp>
        <p:nvSpPr>
          <p:cNvPr id="13" name="">
            <a:extLst xmlns:a="http://schemas.openxmlformats.org/drawingml/2006/main">
              <a:ext uri="{FF2B5EF4-FFF2-40B4-BE49-F238E27FC236}">
                <a16:creationId xmlns:a16="http://schemas.microsoft.com/office/drawing/2014/main" id="{F6A72F15-8902-429D-95F6-CF50530A589A}"/>
              </a:ext>
            </a:extLst>
          </p:cNvPr>
          <p:cNvSpPr>
            <a:spLocks xmlns:a="http://schemas.openxmlformats.org/drawingml/2006/main" noGrp="1"/>
          </p:cNvSpPr>
          <p:nvPr/>
        </p:nvSpPr>
        <p:spPr>
          <a:xfrm xmlns:a="http://schemas.openxmlformats.org/drawingml/2006/main">
            <a:off x="7810500" y="4324350"/>
            <a:ext cx="1619250" cy="762000"/>
          </a:xfrm>
          <a:prstGeom xmlns:a="http://schemas.openxmlformats.org/drawingml/2006/main" prst="roundRect">
            <a:avLst>
              <a:gd name="adj" fmla="val 15000"/>
            </a:avLst>
          </a:prstGeom>
          <a:solidFill xmlns:a="http://schemas.openxmlformats.org/drawingml/2006/main">
            <a:srgbClr val="EEF2F6"/>
          </a:solidFill>
          <a:ln xmlns:a="http://schemas.openxmlformats.org/drawingml/2006/main" w="9525">
            <a:solidFill>
              <a:srgbClr val="718096"/>
            </a:solidFill>
            <a:prstDash val="solid"/>
          </a:ln>
        </p:spPr>
      </p:sp>
      <p:sp>
        <p:nvSpPr>
          <p:cNvPr id="14" name="">
            <a:extLst xmlns:a="http://schemas.openxmlformats.org/drawingml/2006/main">
              <a:ext uri="{FF2B5EF4-FFF2-40B4-BE49-F238E27FC236}">
                <a16:creationId xmlns:a16="http://schemas.microsoft.com/office/drawing/2014/main" id="{18006283-4BBC-4DD3-B98B-457F4981FC25}"/>
              </a:ext>
            </a:extLst>
          </p:cNvPr>
          <p:cNvSpPr>
            <a:spLocks xmlns:a="http://schemas.openxmlformats.org/drawingml/2006/main" noGrp="1"/>
          </p:cNvSpPr>
          <p:nvPr/>
        </p:nvSpPr>
        <p:spPr>
          <a:xfrm xmlns:a="http://schemas.openxmlformats.org/drawingml/2006/main">
            <a:off x="7924800" y="459105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718096"/>
                </a:solidFill>
              </a:defRPr>
            </a:pPr>
            <a:r>
              <a:rPr sz="1500" b="1">
                <a:solidFill>
                  <a:srgbClr val="718096"/>
                </a:solidFill>
              </a:rPr>
              <a:t>サーバの</a:t>
            </a:r>
          </a:p>
          <a:p xmlns:a="http://schemas.openxmlformats.org/drawingml/2006/main">
            <a:pPr algn="ctr">
              <a:defRPr sz="1500" b="1">
                <a:solidFill>
                  <a:srgbClr val="718096"/>
                </a:solidFill>
              </a:defRPr>
            </a:pPr>
            <a:r>
              <a:rPr sz="1500" b="1">
                <a:solidFill>
                  <a:srgbClr val="718096"/>
                </a:solidFill>
              </a:rPr>
              <a:t>一時停止</a:t>
            </a:r>
          </a:p>
        </p:txBody>
      </p:sp>
      <p:sp>
        <p:nvSpPr>
          <p:cNvPr id="15" name="">
            <a:extLst xmlns:a="http://schemas.openxmlformats.org/drawingml/2006/main">
              <a:ext uri="{FF2B5EF4-FFF2-40B4-BE49-F238E27FC236}">
                <a16:creationId xmlns:a16="http://schemas.microsoft.com/office/drawing/2014/main" id="{8ED24E4C-F8DA-4A13-B57A-E351C9AF7B26}"/>
              </a:ext>
            </a:extLst>
          </p:cNvPr>
          <p:cNvSpPr>
            <a:spLocks xmlns:a="http://schemas.openxmlformats.org/drawingml/2006/main" noGrp="1"/>
          </p:cNvSpPr>
          <p:nvPr/>
        </p:nvSpPr>
        <p:spPr>
          <a:xfrm xmlns:a="http://schemas.openxmlformats.org/drawingml/2006/main">
            <a:off x="9601200" y="1905000"/>
            <a:ext cx="1619250" cy="762000"/>
          </a:xfrm>
          <a:prstGeom xmlns:a="http://schemas.openxmlformats.org/drawingml/2006/main" prst="roundRect">
            <a:avLst>
              <a:gd name="adj" fmla="val 15000"/>
            </a:avLst>
          </a:prstGeom>
          <a:solidFill xmlns:a="http://schemas.openxmlformats.org/drawingml/2006/main">
            <a:srgbClr val="EEF2F6"/>
          </a:solidFill>
          <a:ln xmlns:a="http://schemas.openxmlformats.org/drawingml/2006/main" w="9525">
            <a:solidFill>
              <a:srgbClr val="718096"/>
            </a:solidFill>
            <a:prstDash val="solid"/>
          </a:ln>
        </p:spPr>
      </p:sp>
      <p:sp>
        <p:nvSpPr>
          <p:cNvPr id="16" name="">
            <a:extLst xmlns:a="http://schemas.openxmlformats.org/drawingml/2006/main">
              <a:ext uri="{FF2B5EF4-FFF2-40B4-BE49-F238E27FC236}">
                <a16:creationId xmlns:a16="http://schemas.microsoft.com/office/drawing/2014/main" id="{A0872A5C-E6DE-47C8-B605-3A949989BEA7}"/>
              </a:ext>
            </a:extLst>
          </p:cNvPr>
          <p:cNvSpPr>
            <a:spLocks xmlns:a="http://schemas.openxmlformats.org/drawingml/2006/main" noGrp="1"/>
          </p:cNvSpPr>
          <p:nvPr/>
        </p:nvSpPr>
        <p:spPr>
          <a:xfrm xmlns:a="http://schemas.openxmlformats.org/drawingml/2006/main">
            <a:off x="9715500" y="21717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718096"/>
                </a:solidFill>
              </a:defRPr>
            </a:pPr>
            <a:r>
              <a:rPr sz="1500" b="1">
                <a:solidFill>
                  <a:srgbClr val="718096"/>
                </a:solidFill>
              </a:rPr>
              <a:t>継続的な</a:t>
            </a:r>
          </a:p>
          <a:p xmlns:a="http://schemas.openxmlformats.org/drawingml/2006/main">
            <a:pPr algn="ctr">
              <a:defRPr sz="1500" b="1">
                <a:solidFill>
                  <a:srgbClr val="718096"/>
                </a:solidFill>
              </a:defRPr>
            </a:pPr>
            <a:r>
              <a:rPr sz="1500" b="1">
                <a:solidFill>
                  <a:srgbClr val="718096"/>
                </a:solidFill>
              </a:rPr>
              <a:t>ネットワーク障害</a:t>
            </a:r>
          </a:p>
        </p:txBody>
      </p:sp>
      <p:sp>
        <p:nvSpPr>
          <p:cNvPr id="17" name="">
            <a:extLst xmlns:a="http://schemas.openxmlformats.org/drawingml/2006/main">
              <a:ext uri="{FF2B5EF4-FFF2-40B4-BE49-F238E27FC236}">
                <a16:creationId xmlns:a16="http://schemas.microsoft.com/office/drawing/2014/main" id="{B2DD62D2-4240-48AA-9811-88E70FA443A1}"/>
              </a:ext>
            </a:extLst>
          </p:cNvPr>
          <p:cNvSpPr>
            <a:spLocks xmlns:a="http://schemas.openxmlformats.org/drawingml/2006/main" noGrp="1"/>
          </p:cNvSpPr>
          <p:nvPr/>
        </p:nvSpPr>
        <p:spPr>
          <a:xfrm xmlns:a="http://schemas.openxmlformats.org/drawingml/2006/main">
            <a:off x="1619250" y="5810250"/>
            <a:ext cx="895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0">
                <a:solidFill>
                  <a:srgbClr val="52616B"/>
                </a:solidFill>
              </a:defRPr>
            </a:pPr>
            <a:r>
              <a:rPr sz="1575" b="0">
                <a:solidFill>
                  <a:srgbClr val="52616B"/>
                </a:solidFill>
              </a:rPr>
              <a:t>Aeacusでは、タイムアウト原因の内訳を調査・分類すること自体は主目的ではない</a:t>
            </a:r>
          </a:p>
        </p:txBody>
      </p:sp>
      <p:sp>
        <p:nvSpPr>
          <p:cNvPr id="18" name="">
            <a:extLst xmlns:a="http://schemas.openxmlformats.org/drawingml/2006/main">
              <a:ext uri="{FF2B5EF4-FFF2-40B4-BE49-F238E27FC236}">
                <a16:creationId xmlns:a16="http://schemas.microsoft.com/office/drawing/2014/main" id="{B0DD8CE2-C2F2-44B0-AB87-6BA8A4E59808}"/>
              </a:ext>
            </a:extLst>
          </p:cNvPr>
          <p:cNvSpPr>
            <a:spLocks xmlns:a="http://schemas.openxmlformats.org/drawingml/2006/main" noGrp="1"/>
          </p:cNvSpPr>
          <p:nvPr/>
        </p:nvSpPr>
        <p:spPr>
          <a:xfrm xmlns:a="http://schemas.openxmlformats.org/drawingml/2006/main">
            <a:off x="685800" y="6457950"/>
            <a:ext cx="295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18096"/>
                </a:solidFill>
              </a:defRPr>
            </a:pPr>
            <a:r>
              <a:rPr sz="900" b="0">
                <a:solidFill>
                  <a:srgbClr val="718096"/>
                </a:solidFill>
              </a:rPr>
              <a:t>卒論テーマ相談</a:t>
            </a:r>
          </a:p>
        </p:txBody>
      </p:sp>
      <p:sp>
        <p:nvSpPr>
          <p:cNvPr id="19" name="">
            <a:extLst xmlns:a="http://schemas.openxmlformats.org/drawingml/2006/main">
              <a:ext uri="{FF2B5EF4-FFF2-40B4-BE49-F238E27FC236}">
                <a16:creationId xmlns:a16="http://schemas.microsoft.com/office/drawing/2014/main" id="{68CF6B12-AB4F-4FEE-A5F0-89862B05D65D}"/>
              </a:ext>
            </a:extLst>
          </p:cNvPr>
          <p:cNvSpPr>
            <a:spLocks xmlns:a="http://schemas.openxmlformats.org/drawingml/2006/main" noGrp="1"/>
          </p:cNvSpPr>
          <p:nvPr/>
        </p:nvSpPr>
        <p:spPr>
          <a:xfrm xmlns:a="http://schemas.openxmlformats.org/drawingml/2006/main">
            <a:off x="8001000" y="6457950"/>
            <a:ext cx="3505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718096"/>
                </a:solidFill>
              </a:defRPr>
            </a:pPr>
            <a:r>
              <a:rPr sz="900" b="0">
                <a:solidFill>
                  <a:srgbClr val="718096"/>
                </a:solidFill>
              </a:rPr>
              <a:t>Aeacusを先行研究としたテーマ案</a:t>
            </a:r>
          </a:p>
        </p:txBody>
      </p:sp>
    </p:spTree>
    <p:extLst>
      <p:ext uri="{BB962C8B-B14F-4D97-AF65-F5344CB8AC3E}">
        <p14:creationId xmlns:p14="http://schemas.microsoft.com/office/powerpoint/2010/main" val="534678230"/>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78EC22A-1AFD-4EEF-BD57-1199C22BDAF6}"/>
              </a:ext>
            </a:extLst>
          </p:cNvPr>
          <p:cNvSpPr>
            <a:spLocks xmlns:a="http://schemas.openxmlformats.org/drawingml/2006/main" noGrp="1"/>
          </p:cNvSpPr>
          <p:nvPr/>
        </p:nvSpPr>
        <p:spPr>
          <a:xfrm xmlns:a="http://schemas.openxmlformats.org/drawingml/2006/main">
            <a:off x="685800" y="400050"/>
            <a:ext cx="2952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769AA"/>
                </a:solidFill>
              </a:defRPr>
            </a:pPr>
            <a:r>
              <a:rPr sz="975" b="1">
                <a:solidFill>
                  <a:srgbClr val="1769AA"/>
                </a:solidFill>
              </a:rPr>
              <a:t>研究テーマ案</a:t>
            </a:r>
          </a:p>
        </p:txBody>
      </p:sp>
      <p:sp>
        <p:nvSpPr>
          <p:cNvPr id="2" name="">
            <a:extLst xmlns:a="http://schemas.openxmlformats.org/drawingml/2006/main">
              <a:ext uri="{FF2B5EF4-FFF2-40B4-BE49-F238E27FC236}">
                <a16:creationId xmlns:a16="http://schemas.microsoft.com/office/drawing/2014/main" id="{657A54B9-058A-4188-A028-4370DE11B1EC}"/>
              </a:ext>
            </a:extLst>
          </p:cNvPr>
          <p:cNvSpPr>
            <a:spLocks xmlns:a="http://schemas.openxmlformats.org/drawingml/2006/main" noGrp="1"/>
          </p:cNvSpPr>
          <p:nvPr/>
        </p:nvSpPr>
        <p:spPr>
          <a:xfrm xmlns:a="http://schemas.openxmlformats.org/drawingml/2006/main">
            <a:off x="685800" y="685800"/>
            <a:ext cx="1076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02A43"/>
                </a:solidFill>
              </a:defRPr>
            </a:pPr>
            <a:r>
              <a:rPr sz="2700" b="1">
                <a:solidFill>
                  <a:srgbClr val="102A43"/>
                </a:solidFill>
              </a:rPr>
              <a:t>失敗後の観測を組み合わせ、原因を推定する</a:t>
            </a:r>
          </a:p>
        </p:txBody>
      </p:sp>
      <p:sp>
        <p:nvSpPr>
          <p:cNvPr id="3" name="">
            <a:extLst xmlns:a="http://schemas.openxmlformats.org/drawingml/2006/main">
              <a:ext uri="{FF2B5EF4-FFF2-40B4-BE49-F238E27FC236}">
                <a16:creationId xmlns:a16="http://schemas.microsoft.com/office/drawing/2014/main" id="{53B728C3-B5CD-4A2B-BAEB-6D3E2C2EC875}"/>
              </a:ext>
            </a:extLst>
          </p:cNvPr>
          <p:cNvSpPr>
            <a:spLocks xmlns:a="http://schemas.openxmlformats.org/drawingml/2006/main" noGrp="1"/>
          </p:cNvSpPr>
          <p:nvPr/>
        </p:nvSpPr>
        <p:spPr>
          <a:xfrm xmlns:a="http://schemas.openxmlformats.org/drawingml/2006/main">
            <a:off x="11144250" y="4000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718096"/>
                </a:solidFill>
              </a:defRPr>
            </a:pPr>
            <a:r>
              <a:rPr sz="1050" b="1">
                <a:solidFill>
                  <a:srgbClr val="718096"/>
                </a:solidFill>
              </a:rPr>
              <a:t>05</a:t>
            </a:r>
          </a:p>
        </p:txBody>
      </p:sp>
      <p:sp>
        <p:nvSpPr>
          <p:cNvPr id="4" name="">
            <a:extLst xmlns:a="http://schemas.openxmlformats.org/drawingml/2006/main">
              <a:ext uri="{FF2B5EF4-FFF2-40B4-BE49-F238E27FC236}">
                <a16:creationId xmlns:a16="http://schemas.microsoft.com/office/drawing/2014/main" id="{7E13D022-3F38-4E2B-A85D-CC49BCFAD348}"/>
              </a:ext>
            </a:extLst>
          </p:cNvPr>
          <p:cNvSpPr>
            <a:spLocks xmlns:a="http://schemas.openxmlformats.org/drawingml/2006/main" noGrp="1"/>
          </p:cNvSpPr>
          <p:nvPr/>
        </p:nvSpPr>
        <p:spPr>
          <a:xfrm xmlns:a="http://schemas.openxmlformats.org/drawingml/2006/main">
            <a:off x="685800" y="1314450"/>
            <a:ext cx="10820400" cy="19050"/>
          </a:xfrm>
          <a:prstGeom xmlns:a="http://schemas.openxmlformats.org/drawingml/2006/main" prst="rect">
            <a:avLst/>
          </a:prstGeom>
          <a:solidFill xmlns:a="http://schemas.openxmlformats.org/drawingml/2006/main">
            <a:srgbClr val="E8EEF5"/>
          </a:solidFill>
          <a:ln xmlns:a="http://schemas.openxmlformats.org/drawingml/2006/main" w="0">
            <a:solidFill>
              <a:srgbClr val="E8EEF5"/>
            </a:solidFill>
            <a:prstDash val="solid"/>
          </a:ln>
        </p:spPr>
      </p:sp>
      <p:sp>
        <p:nvSpPr>
          <p:cNvPr id="5" name="">
            <a:extLst xmlns:a="http://schemas.openxmlformats.org/drawingml/2006/main">
              <a:ext uri="{FF2B5EF4-FFF2-40B4-BE49-F238E27FC236}">
                <a16:creationId xmlns:a16="http://schemas.microsoft.com/office/drawing/2014/main" id="{049C1F94-BDC6-435A-B713-FF9952392E2A}"/>
              </a:ext>
            </a:extLst>
          </p:cNvPr>
          <p:cNvSpPr>
            <a:spLocks xmlns:a="http://schemas.openxmlformats.org/drawingml/2006/main" noGrp="1"/>
          </p:cNvSpPr>
          <p:nvPr/>
        </p:nvSpPr>
        <p:spPr>
          <a:xfrm xmlns:a="http://schemas.openxmlformats.org/drawingml/2006/main">
            <a:off x="762000" y="1619250"/>
            <a:ext cx="10668000" cy="723900"/>
          </a:xfrm>
          <a:prstGeom xmlns:a="http://schemas.openxmlformats.org/drawingml/2006/main" prst="roundRect">
            <a:avLst>
              <a:gd name="adj" fmla="val 15789"/>
            </a:avLst>
          </a:prstGeom>
          <a:solidFill xmlns:a="http://schemas.openxmlformats.org/drawingml/2006/main">
            <a:srgbClr val="E8F2FB"/>
          </a:solidFill>
          <a:ln xmlns:a="http://schemas.openxmlformats.org/drawingml/2006/main" w="9525">
            <a:solidFill>
              <a:srgbClr val="1769AA"/>
            </a:solidFill>
            <a:prstDash val="solid"/>
          </a:ln>
        </p:spPr>
      </p:sp>
      <p:sp>
        <p:nvSpPr>
          <p:cNvPr id="6" name="">
            <a:extLst xmlns:a="http://schemas.openxmlformats.org/drawingml/2006/main">
              <a:ext uri="{FF2B5EF4-FFF2-40B4-BE49-F238E27FC236}">
                <a16:creationId xmlns:a16="http://schemas.microsoft.com/office/drawing/2014/main" id="{46BCF743-7B7A-4A94-A3A6-D82B255BF1F0}"/>
              </a:ext>
            </a:extLst>
          </p:cNvPr>
          <p:cNvSpPr>
            <a:spLocks xmlns:a="http://schemas.openxmlformats.org/drawingml/2006/main" noGrp="1"/>
          </p:cNvSpPr>
          <p:nvPr/>
        </p:nvSpPr>
        <p:spPr>
          <a:xfrm xmlns:a="http://schemas.openxmlformats.org/drawingml/2006/main">
            <a:off x="1009650" y="1857375"/>
            <a:ext cx="10144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02A43"/>
                </a:solidFill>
              </a:defRPr>
            </a:pPr>
            <a:r>
              <a:rPr sz="1800" b="1">
                <a:solidFill>
                  <a:srgbClr val="102A43"/>
                </a:solidFill>
              </a:rPr>
              <a:t>QUICタイムアウトを、古いIPによる失敗とそれ以外に分類し、DNSキャッシュ制御の改善可能性を調べる</a:t>
            </a:r>
          </a:p>
        </p:txBody>
      </p:sp>
      <p:sp>
        <p:nvSpPr>
          <p:cNvPr id="7" name="">
            <a:extLst xmlns:a="http://schemas.openxmlformats.org/drawingml/2006/main">
              <a:ext uri="{FF2B5EF4-FFF2-40B4-BE49-F238E27FC236}">
                <a16:creationId xmlns:a16="http://schemas.microsoft.com/office/drawing/2014/main" id="{9D2F508E-03B4-46CA-A62B-958A875054F2}"/>
              </a:ext>
            </a:extLst>
          </p:cNvPr>
          <p:cNvSpPr>
            <a:spLocks xmlns:a="http://schemas.openxmlformats.org/drawingml/2006/main" noGrp="1"/>
          </p:cNvSpPr>
          <p:nvPr/>
        </p:nvSpPr>
        <p:spPr>
          <a:xfrm xmlns:a="http://schemas.openxmlformats.org/drawingml/2006/main">
            <a:off x="1066800" y="3143250"/>
            <a:ext cx="2000250" cy="876300"/>
          </a:xfrm>
          <a:prstGeom xmlns:a="http://schemas.openxmlformats.org/drawingml/2006/main" prst="roundRect">
            <a:avLst>
              <a:gd name="adj" fmla="val 13043"/>
            </a:avLst>
          </a:prstGeom>
          <a:solidFill xmlns:a="http://schemas.openxmlformats.org/drawingml/2006/main">
            <a:srgbClr val="FFF1E5"/>
          </a:solidFill>
          <a:ln xmlns:a="http://schemas.openxmlformats.org/drawingml/2006/main" w="9525">
            <a:solidFill>
              <a:srgbClr val="E9822A"/>
            </a:solidFill>
            <a:prstDash val="solid"/>
          </a:ln>
        </p:spPr>
      </p:sp>
      <p:sp>
        <p:nvSpPr>
          <p:cNvPr id="8" name="">
            <a:extLst xmlns:a="http://schemas.openxmlformats.org/drawingml/2006/main">
              <a:ext uri="{FF2B5EF4-FFF2-40B4-BE49-F238E27FC236}">
                <a16:creationId xmlns:a16="http://schemas.microsoft.com/office/drawing/2014/main" id="{67F38730-BCDA-48DC-B21C-F0EF74B57F4D}"/>
              </a:ext>
            </a:extLst>
          </p:cNvPr>
          <p:cNvSpPr>
            <a:spLocks xmlns:a="http://schemas.openxmlformats.org/drawingml/2006/main" noGrp="1"/>
          </p:cNvSpPr>
          <p:nvPr/>
        </p:nvSpPr>
        <p:spPr>
          <a:xfrm xmlns:a="http://schemas.openxmlformats.org/drawingml/2006/main">
            <a:off x="1181100" y="3452813"/>
            <a:ext cx="17716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E9822A"/>
                </a:solidFill>
              </a:defRPr>
            </a:pPr>
            <a:r>
              <a:rPr sz="1725" b="1">
                <a:solidFill>
                  <a:srgbClr val="E9822A"/>
                </a:solidFill>
              </a:rPr>
              <a:t>最初のQUIC接続</a:t>
            </a:r>
          </a:p>
          <a:p xmlns:a="http://schemas.openxmlformats.org/drawingml/2006/main">
            <a:pPr algn="ctr">
              <a:defRPr sz="1725" b="1">
                <a:solidFill>
                  <a:srgbClr val="E9822A"/>
                </a:solidFill>
              </a:defRPr>
            </a:pPr>
            <a:r>
              <a:rPr sz="1725" b="1">
                <a:solidFill>
                  <a:srgbClr val="E9822A"/>
                </a:solidFill>
              </a:rPr>
              <a:t>タイムアウト</a:t>
            </a:r>
          </a:p>
        </p:txBody>
      </p:sp>
      <p:sp>
        <p:nvSpPr>
          <p:cNvPr id="9" name="">
            <a:extLst xmlns:a="http://schemas.openxmlformats.org/drawingml/2006/main">
              <a:ext uri="{FF2B5EF4-FFF2-40B4-BE49-F238E27FC236}">
                <a16:creationId xmlns:a16="http://schemas.microsoft.com/office/drawing/2014/main" id="{D97B91A4-F667-4C82-B5D0-34644AD98983}"/>
              </a:ext>
            </a:extLst>
          </p:cNvPr>
          <p:cNvSpPr>
            <a:spLocks xmlns:a="http://schemas.openxmlformats.org/drawingml/2006/main" noGrp="1"/>
          </p:cNvSpPr>
          <p:nvPr/>
        </p:nvSpPr>
        <p:spPr>
          <a:xfrm xmlns:a="http://schemas.openxmlformats.org/drawingml/2006/main">
            <a:off x="4095750" y="2809875"/>
            <a:ext cx="2952750" cy="552450"/>
          </a:xfrm>
          <a:prstGeom xmlns:a="http://schemas.openxmlformats.org/drawingml/2006/main" prst="roundRect">
            <a:avLst>
              <a:gd name="adj" fmla="val 20690"/>
            </a:avLst>
          </a:prstGeom>
          <a:solidFill xmlns:a="http://schemas.openxmlformats.org/drawingml/2006/main">
            <a:srgbClr val="E8F2FB"/>
          </a:solidFill>
          <a:ln xmlns:a="http://schemas.openxmlformats.org/drawingml/2006/main" w="9525">
            <a:solidFill>
              <a:srgbClr val="1769AA"/>
            </a:solidFill>
            <a:prstDash val="solid"/>
          </a:ln>
        </p:spPr>
      </p:sp>
      <p:sp>
        <p:nvSpPr>
          <p:cNvPr id="10" name="">
            <a:extLst xmlns:a="http://schemas.openxmlformats.org/drawingml/2006/main">
              <a:ext uri="{FF2B5EF4-FFF2-40B4-BE49-F238E27FC236}">
                <a16:creationId xmlns:a16="http://schemas.microsoft.com/office/drawing/2014/main" id="{CFDF6702-8AB5-4559-A376-0CBE1FE84541}"/>
              </a:ext>
            </a:extLst>
          </p:cNvPr>
          <p:cNvSpPr>
            <a:spLocks xmlns:a="http://schemas.openxmlformats.org/drawingml/2006/main" noGrp="1"/>
          </p:cNvSpPr>
          <p:nvPr/>
        </p:nvSpPr>
        <p:spPr>
          <a:xfrm xmlns:a="http://schemas.openxmlformats.org/drawingml/2006/main">
            <a:off x="4210050" y="297180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769AA"/>
                </a:solidFill>
              </a:defRPr>
            </a:pPr>
            <a:r>
              <a:rPr sz="1500" b="1">
                <a:solidFill>
                  <a:srgbClr val="1769AA"/>
                </a:solidFill>
              </a:rPr>
              <a:t>① DNSへ最新IPを問い合わせ</a:t>
            </a:r>
          </a:p>
        </p:txBody>
      </p:sp>
      <p:sp>
        <p:nvSpPr>
          <p:cNvPr id="11" name="">
            <a:extLst xmlns:a="http://schemas.openxmlformats.org/drawingml/2006/main">
              <a:ext uri="{FF2B5EF4-FFF2-40B4-BE49-F238E27FC236}">
                <a16:creationId xmlns:a16="http://schemas.microsoft.com/office/drawing/2014/main" id="{CB10EA8E-BC9E-4AAC-89F1-582A2D55A2A6}"/>
              </a:ext>
            </a:extLst>
          </p:cNvPr>
          <p:cNvSpPr>
            <a:spLocks xmlns:a="http://schemas.openxmlformats.org/drawingml/2006/main" noGrp="1"/>
          </p:cNvSpPr>
          <p:nvPr/>
        </p:nvSpPr>
        <p:spPr>
          <a:xfrm xmlns:a="http://schemas.openxmlformats.org/drawingml/2006/main">
            <a:off x="4095750" y="3638550"/>
            <a:ext cx="2952750" cy="552450"/>
          </a:xfrm>
          <a:prstGeom xmlns:a="http://schemas.openxmlformats.org/drawingml/2006/main" prst="roundRect">
            <a:avLst>
              <a:gd name="adj" fmla="val 20690"/>
            </a:avLst>
          </a:prstGeom>
          <a:solidFill xmlns:a="http://schemas.openxmlformats.org/drawingml/2006/main">
            <a:srgbClr val="EEF2F6"/>
          </a:solidFill>
          <a:ln xmlns:a="http://schemas.openxmlformats.org/drawingml/2006/main" w="9525">
            <a:solidFill>
              <a:srgbClr val="718096"/>
            </a:solidFill>
            <a:prstDash val="solid"/>
          </a:ln>
        </p:spPr>
      </p:sp>
      <p:sp>
        <p:nvSpPr>
          <p:cNvPr id="12" name="">
            <a:extLst xmlns:a="http://schemas.openxmlformats.org/drawingml/2006/main">
              <a:ext uri="{FF2B5EF4-FFF2-40B4-BE49-F238E27FC236}">
                <a16:creationId xmlns:a16="http://schemas.microsoft.com/office/drawing/2014/main" id="{5A05FE52-6212-420F-B91A-76D96EC9720E}"/>
              </a:ext>
            </a:extLst>
          </p:cNvPr>
          <p:cNvSpPr>
            <a:spLocks xmlns:a="http://schemas.openxmlformats.org/drawingml/2006/main" noGrp="1"/>
          </p:cNvSpPr>
          <p:nvPr/>
        </p:nvSpPr>
        <p:spPr>
          <a:xfrm xmlns:a="http://schemas.openxmlformats.org/drawingml/2006/main">
            <a:off x="4210050" y="3805238"/>
            <a:ext cx="2724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18096"/>
                </a:solidFill>
              </a:defRPr>
            </a:pPr>
            <a:r>
              <a:rPr sz="1425" b="1">
                <a:solidFill>
                  <a:srgbClr val="718096"/>
                </a:solidFill>
              </a:rPr>
              <a:t>② 同じIPへ新しい接続を1回</a:t>
            </a:r>
          </a:p>
        </p:txBody>
      </p:sp>
      <p:sp>
        <p:nvSpPr>
          <p:cNvPr id="13" name="">
            <a:extLst xmlns:a="http://schemas.openxmlformats.org/drawingml/2006/main">
              <a:ext uri="{FF2B5EF4-FFF2-40B4-BE49-F238E27FC236}">
                <a16:creationId xmlns:a16="http://schemas.microsoft.com/office/drawing/2014/main" id="{C57A0978-819C-422F-80E8-958679241E32}"/>
              </a:ext>
            </a:extLst>
          </p:cNvPr>
          <p:cNvSpPr>
            <a:spLocks xmlns:a="http://schemas.openxmlformats.org/drawingml/2006/main" noGrp="1"/>
          </p:cNvSpPr>
          <p:nvPr/>
        </p:nvSpPr>
        <p:spPr>
          <a:xfrm xmlns:a="http://schemas.openxmlformats.org/drawingml/2006/main">
            <a:off x="7905750" y="3219450"/>
            <a:ext cx="2857500" cy="552450"/>
          </a:xfrm>
          <a:prstGeom xmlns:a="http://schemas.openxmlformats.org/drawingml/2006/main" prst="roundRect">
            <a:avLst>
              <a:gd name="adj" fmla="val 20690"/>
            </a:avLst>
          </a:prstGeom>
          <a:solidFill xmlns:a="http://schemas.openxmlformats.org/drawingml/2006/main">
            <a:srgbClr val="E8F5ED"/>
          </a:solidFill>
          <a:ln xmlns:a="http://schemas.openxmlformats.org/drawingml/2006/main" w="9525">
            <a:solidFill>
              <a:srgbClr val="2F855A"/>
            </a:solidFill>
            <a:prstDash val="solid"/>
          </a:ln>
        </p:spPr>
      </p:sp>
      <p:sp>
        <p:nvSpPr>
          <p:cNvPr id="14" name="">
            <a:extLst xmlns:a="http://schemas.openxmlformats.org/drawingml/2006/main">
              <a:ext uri="{FF2B5EF4-FFF2-40B4-BE49-F238E27FC236}">
                <a16:creationId xmlns:a16="http://schemas.microsoft.com/office/drawing/2014/main" id="{02320478-9343-4FCE-B0E5-0752793E5B83}"/>
              </a:ext>
            </a:extLst>
          </p:cNvPr>
          <p:cNvSpPr>
            <a:spLocks xmlns:a="http://schemas.openxmlformats.org/drawingml/2006/main" noGrp="1"/>
          </p:cNvSpPr>
          <p:nvPr/>
        </p:nvSpPr>
        <p:spPr>
          <a:xfrm xmlns:a="http://schemas.openxmlformats.org/drawingml/2006/main">
            <a:off x="8020050" y="3386138"/>
            <a:ext cx="2628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2F855A"/>
                </a:solidFill>
              </a:defRPr>
            </a:pPr>
            <a:r>
              <a:rPr sz="1425" b="1">
                <a:solidFill>
                  <a:srgbClr val="2F855A"/>
                </a:solidFill>
              </a:rPr>
              <a:t>③ IPが変化なら新IPへも接続</a:t>
            </a:r>
          </a:p>
        </p:txBody>
      </p:sp>
      <p:cxnSp>
        <p:nvCxnSpPr>
          <p:cNvPr id="37" name=""/>
          <p:cNvCxnSpPr>
            <a:stCxn xmlns:a="http://schemas.openxmlformats.org/drawingml/2006/main" id="7" idx="3"/>
            <a:endCxn xmlns:a="http://schemas.openxmlformats.org/drawingml/2006/main" id="9" idx="1"/>
          </p:cNvCxnSpPr>
          <p:nvPr/>
        </p:nvCxnSpPr>
        <p:spPr>
          <a:xfrm xmlns:a="http://schemas.openxmlformats.org/drawingml/2006/main" flipV="1">
            <a:off x="3067050" y="3086100"/>
            <a:ext cx="1028700" cy="495300"/>
          </a:xfrm>
          <a:prstGeom xmlns:a="http://schemas.openxmlformats.org/drawingml/2006/main" prst="straightConnector1">
            <a:avLst/>
          </a:prstGeom>
          <a:ln xmlns:a="http://schemas.openxmlformats.org/drawingml/2006/main" w="28575">
            <a:solidFill>
              <a:srgbClr val="E9822A"/>
            </a:solidFill>
            <a:prstDash val="solid"/>
            <a:tailEnd type="arrow" w="med" len="med"/>
          </a:ln>
        </p:spPr>
      </p:cxnSp>
      <p:cxnSp>
        <p:nvCxnSpPr>
          <p:cNvPr id="38" name=""/>
          <p:cNvCxnSpPr>
            <a:stCxn xmlns:a="http://schemas.openxmlformats.org/drawingml/2006/main" id="7" idx="3"/>
            <a:endCxn xmlns:a="http://schemas.openxmlformats.org/drawingml/2006/main" id="11" idx="1"/>
          </p:cNvCxnSpPr>
          <p:nvPr/>
        </p:nvCxnSpPr>
        <p:spPr>
          <a:xfrm xmlns:a="http://schemas.openxmlformats.org/drawingml/2006/main">
            <a:off x="3067050" y="3581400"/>
            <a:ext cx="1028700" cy="333375"/>
          </a:xfrm>
          <a:prstGeom xmlns:a="http://schemas.openxmlformats.org/drawingml/2006/main" prst="straightConnector1">
            <a:avLst/>
          </a:prstGeom>
          <a:ln xmlns:a="http://schemas.openxmlformats.org/drawingml/2006/main" w="28575">
            <a:solidFill>
              <a:srgbClr val="E9822A"/>
            </a:solidFill>
            <a:prstDash val="solid"/>
            <a:tailEnd type="arrow" w="med" len="med"/>
          </a:ln>
        </p:spPr>
      </p:cxnSp>
      <p:cxnSp>
        <p:nvCxnSpPr>
          <p:cNvPr id="39" name=""/>
          <p:cNvCxnSpPr>
            <a:stCxn xmlns:a="http://schemas.openxmlformats.org/drawingml/2006/main" id="9" idx="3"/>
            <a:endCxn xmlns:a="http://schemas.openxmlformats.org/drawingml/2006/main" id="13" idx="1"/>
          </p:cNvCxnSpPr>
          <p:nvPr/>
        </p:nvCxnSpPr>
        <p:spPr>
          <a:xfrm xmlns:a="http://schemas.openxmlformats.org/drawingml/2006/main">
            <a:off x="7048500" y="3086100"/>
            <a:ext cx="857250" cy="409575"/>
          </a:xfrm>
          <a:prstGeom xmlns:a="http://schemas.openxmlformats.org/drawingml/2006/main" prst="straightConnector1">
            <a:avLst/>
          </a:prstGeom>
          <a:ln xmlns:a="http://schemas.openxmlformats.org/drawingml/2006/main" w="28575">
            <a:solidFill>
              <a:srgbClr val="1769AA"/>
            </a:solidFill>
            <a:prstDash val="solid"/>
            <a:tailEnd type="arrow" w="med" len="med"/>
          </a:ln>
        </p:spPr>
      </p:cxnSp>
      <p:cxnSp>
        <p:nvCxnSpPr>
          <p:cNvPr id="40" name=""/>
          <p:cNvCxnSpPr>
            <a:stCxn xmlns:a="http://schemas.openxmlformats.org/drawingml/2006/main" id="11" idx="3"/>
            <a:endCxn xmlns:a="http://schemas.openxmlformats.org/drawingml/2006/main" id="13" idx="1"/>
          </p:cNvCxnSpPr>
          <p:nvPr/>
        </p:nvCxnSpPr>
        <p:spPr>
          <a:xfrm xmlns:a="http://schemas.openxmlformats.org/drawingml/2006/main" flipV="1">
            <a:off x="7048500" y="3495675"/>
            <a:ext cx="857250" cy="419100"/>
          </a:xfrm>
          <a:prstGeom xmlns:a="http://schemas.openxmlformats.org/drawingml/2006/main" prst="straightConnector1">
            <a:avLst/>
          </a:prstGeom>
          <a:ln xmlns:a="http://schemas.openxmlformats.org/drawingml/2006/main" w="19050">
            <a:solidFill>
              <a:srgbClr val="718096"/>
            </a:solidFill>
            <a:prstDash val="dash"/>
            <a:tailEnd type="arrow" w="med" len="med"/>
          </a:ln>
        </p:spPr>
      </p:cxnSp>
      <p:sp>
        <p:nvSpPr>
          <p:cNvPr id="19" name="">
            <a:extLst xmlns:a="http://schemas.openxmlformats.org/drawingml/2006/main">
              <a:ext uri="{FF2B5EF4-FFF2-40B4-BE49-F238E27FC236}">
                <a16:creationId xmlns:a16="http://schemas.microsoft.com/office/drawing/2014/main" id="{6B533F05-452E-4A10-90EC-82F09D6E418A}"/>
              </a:ext>
            </a:extLst>
          </p:cNvPr>
          <p:cNvSpPr>
            <a:spLocks xmlns:a="http://schemas.openxmlformats.org/drawingml/2006/main" noGrp="1"/>
          </p:cNvSpPr>
          <p:nvPr/>
        </p:nvSpPr>
        <p:spPr>
          <a:xfrm xmlns:a="http://schemas.openxmlformats.org/drawingml/2006/main">
            <a:off x="2381250" y="5143500"/>
            <a:ext cx="74295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E8EEF5"/>
            </a:solidFill>
            <a:prstDash val="solid"/>
          </a:ln>
        </p:spPr>
      </p:sp>
      <p:sp>
        <p:nvSpPr>
          <p:cNvPr id="20" name="">
            <a:extLst xmlns:a="http://schemas.openxmlformats.org/drawingml/2006/main">
              <a:ext uri="{FF2B5EF4-FFF2-40B4-BE49-F238E27FC236}">
                <a16:creationId xmlns:a16="http://schemas.microsoft.com/office/drawing/2014/main" id="{0940943A-A63B-41B5-9740-E0377C845960}"/>
              </a:ext>
            </a:extLst>
          </p:cNvPr>
          <p:cNvSpPr>
            <a:spLocks xmlns:a="http://schemas.openxmlformats.org/drawingml/2006/main" noGrp="1"/>
          </p:cNvSpPr>
          <p:nvPr/>
        </p:nvSpPr>
        <p:spPr>
          <a:xfrm xmlns:a="http://schemas.openxmlformats.org/drawingml/2006/main">
            <a:off x="2619375" y="5314950"/>
            <a:ext cx="6953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52616B"/>
                </a:solidFill>
              </a:defRPr>
            </a:pPr>
            <a:r>
              <a:rPr sz="1425" b="1">
                <a:solidFill>
                  <a:srgbClr val="52616B"/>
                </a:solidFill>
              </a:rPr>
              <a:t>結果の組合せで原因を推定する  ／  同じIPへの新規接続は測定用プローブ（PTOの代替ではない）</a:t>
            </a:r>
          </a:p>
        </p:txBody>
      </p:sp>
      <p:sp>
        <p:nvSpPr>
          <p:cNvPr id="21" name="">
            <a:extLst xmlns:a="http://schemas.openxmlformats.org/drawingml/2006/main">
              <a:ext uri="{FF2B5EF4-FFF2-40B4-BE49-F238E27FC236}">
                <a16:creationId xmlns:a16="http://schemas.microsoft.com/office/drawing/2014/main" id="{4C122F1A-6281-4642-87CA-17036FE08253}"/>
              </a:ext>
            </a:extLst>
          </p:cNvPr>
          <p:cNvSpPr>
            <a:spLocks xmlns:a="http://schemas.openxmlformats.org/drawingml/2006/main" noGrp="1"/>
          </p:cNvSpPr>
          <p:nvPr/>
        </p:nvSpPr>
        <p:spPr>
          <a:xfrm xmlns:a="http://schemas.openxmlformats.org/drawingml/2006/main">
            <a:off x="685800" y="6457950"/>
            <a:ext cx="295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18096"/>
                </a:solidFill>
              </a:defRPr>
            </a:pPr>
            <a:r>
              <a:rPr sz="900" b="0">
                <a:solidFill>
                  <a:srgbClr val="718096"/>
                </a:solidFill>
              </a:rPr>
              <a:t>卒論テーマ相談</a:t>
            </a:r>
          </a:p>
        </p:txBody>
      </p:sp>
      <p:sp>
        <p:nvSpPr>
          <p:cNvPr id="22" name="">
            <a:extLst xmlns:a="http://schemas.openxmlformats.org/drawingml/2006/main">
              <a:ext uri="{FF2B5EF4-FFF2-40B4-BE49-F238E27FC236}">
                <a16:creationId xmlns:a16="http://schemas.microsoft.com/office/drawing/2014/main" id="{1A5A1E20-A3D4-4478-9237-E8883D85F120}"/>
              </a:ext>
            </a:extLst>
          </p:cNvPr>
          <p:cNvSpPr>
            <a:spLocks xmlns:a="http://schemas.openxmlformats.org/drawingml/2006/main" noGrp="1"/>
          </p:cNvSpPr>
          <p:nvPr/>
        </p:nvSpPr>
        <p:spPr>
          <a:xfrm xmlns:a="http://schemas.openxmlformats.org/drawingml/2006/main">
            <a:off x="8001000" y="6457950"/>
            <a:ext cx="3505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718096"/>
                </a:solidFill>
              </a:defRPr>
            </a:pPr>
            <a:r>
              <a:rPr sz="900" b="0">
                <a:solidFill>
                  <a:srgbClr val="718096"/>
                </a:solidFill>
              </a:rPr>
              <a:t>Aeacusを先行研究としたテーマ案</a:t>
            </a:r>
          </a:p>
        </p:txBody>
      </p:sp>
    </p:spTree>
    <p:extLst>
      <p:ext uri="{BB962C8B-B14F-4D97-AF65-F5344CB8AC3E}">
        <p14:creationId xmlns:p14="http://schemas.microsoft.com/office/powerpoint/2010/main" val="387836614"/>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579F921-160B-42DA-B762-8C64AEC3B7A9}"/>
              </a:ext>
            </a:extLst>
          </p:cNvPr>
          <p:cNvSpPr>
            <a:spLocks xmlns:a="http://schemas.openxmlformats.org/drawingml/2006/main" noGrp="1"/>
          </p:cNvSpPr>
          <p:nvPr/>
        </p:nvSpPr>
        <p:spPr>
          <a:xfrm xmlns:a="http://schemas.openxmlformats.org/drawingml/2006/main">
            <a:off x="685800" y="400050"/>
            <a:ext cx="2952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769AA"/>
                </a:solidFill>
              </a:defRPr>
            </a:pPr>
            <a:r>
              <a:rPr sz="975" b="1">
                <a:solidFill>
                  <a:srgbClr val="1769AA"/>
                </a:solidFill>
              </a:rPr>
              <a:t>原因分類の案</a:t>
            </a:r>
          </a:p>
        </p:txBody>
      </p:sp>
      <p:sp>
        <p:nvSpPr>
          <p:cNvPr id="2" name="">
            <a:extLst xmlns:a="http://schemas.openxmlformats.org/drawingml/2006/main">
              <a:ext uri="{FF2B5EF4-FFF2-40B4-BE49-F238E27FC236}">
                <a16:creationId xmlns:a16="http://schemas.microsoft.com/office/drawing/2014/main" id="{BD28112B-8D08-46A0-9386-CBD57EBA557B}"/>
              </a:ext>
            </a:extLst>
          </p:cNvPr>
          <p:cNvSpPr>
            <a:spLocks xmlns:a="http://schemas.openxmlformats.org/drawingml/2006/main" noGrp="1"/>
          </p:cNvSpPr>
          <p:nvPr/>
        </p:nvSpPr>
        <p:spPr>
          <a:xfrm xmlns:a="http://schemas.openxmlformats.org/drawingml/2006/main">
            <a:off x="685800" y="685800"/>
            <a:ext cx="1076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02A43"/>
                </a:solidFill>
              </a:defRPr>
            </a:pPr>
            <a:r>
              <a:rPr sz="2700" b="1">
                <a:solidFill>
                  <a:srgbClr val="102A43"/>
                </a:solidFill>
              </a:rPr>
              <a:t>DNSの変化と再接続結果を組み合わせて、4つに整理する</a:t>
            </a:r>
          </a:p>
        </p:txBody>
      </p:sp>
      <p:sp>
        <p:nvSpPr>
          <p:cNvPr id="3" name="">
            <a:extLst xmlns:a="http://schemas.openxmlformats.org/drawingml/2006/main">
              <a:ext uri="{FF2B5EF4-FFF2-40B4-BE49-F238E27FC236}">
                <a16:creationId xmlns:a16="http://schemas.microsoft.com/office/drawing/2014/main" id="{1532CCB8-8D18-4C41-8FAE-743B5B1C162B}"/>
              </a:ext>
            </a:extLst>
          </p:cNvPr>
          <p:cNvSpPr>
            <a:spLocks xmlns:a="http://schemas.openxmlformats.org/drawingml/2006/main" noGrp="1"/>
          </p:cNvSpPr>
          <p:nvPr/>
        </p:nvSpPr>
        <p:spPr>
          <a:xfrm xmlns:a="http://schemas.openxmlformats.org/drawingml/2006/main">
            <a:off x="11144250" y="4000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718096"/>
                </a:solidFill>
              </a:defRPr>
            </a:pPr>
            <a:r>
              <a:rPr sz="1050" b="1">
                <a:solidFill>
                  <a:srgbClr val="718096"/>
                </a:solidFill>
              </a:rPr>
              <a:t>06</a:t>
            </a:r>
          </a:p>
        </p:txBody>
      </p:sp>
      <p:sp>
        <p:nvSpPr>
          <p:cNvPr id="4" name="">
            <a:extLst xmlns:a="http://schemas.openxmlformats.org/drawingml/2006/main">
              <a:ext uri="{FF2B5EF4-FFF2-40B4-BE49-F238E27FC236}">
                <a16:creationId xmlns:a16="http://schemas.microsoft.com/office/drawing/2014/main" id="{A50801FB-7F2D-4293-B5FF-8D710C2B848E}"/>
              </a:ext>
            </a:extLst>
          </p:cNvPr>
          <p:cNvSpPr>
            <a:spLocks xmlns:a="http://schemas.openxmlformats.org/drawingml/2006/main" noGrp="1"/>
          </p:cNvSpPr>
          <p:nvPr/>
        </p:nvSpPr>
        <p:spPr>
          <a:xfrm xmlns:a="http://schemas.openxmlformats.org/drawingml/2006/main">
            <a:off x="685800" y="1314450"/>
            <a:ext cx="10820400" cy="19050"/>
          </a:xfrm>
          <a:prstGeom xmlns:a="http://schemas.openxmlformats.org/drawingml/2006/main" prst="rect">
            <a:avLst/>
          </a:prstGeom>
          <a:solidFill xmlns:a="http://schemas.openxmlformats.org/drawingml/2006/main">
            <a:srgbClr val="E8EEF5"/>
          </a:solidFill>
          <a:ln xmlns:a="http://schemas.openxmlformats.org/drawingml/2006/main" w="0">
            <a:solidFill>
              <a:srgbClr val="E8EEF5"/>
            </a:solidFill>
            <a:prstDash val="solid"/>
          </a:ln>
        </p:spPr>
      </p:sp>
      <p:sp>
        <p:nvSpPr>
          <p:cNvPr id="5" name="">
            <a:extLst xmlns:a="http://schemas.openxmlformats.org/drawingml/2006/main">
              <a:ext uri="{FF2B5EF4-FFF2-40B4-BE49-F238E27FC236}">
                <a16:creationId xmlns:a16="http://schemas.microsoft.com/office/drawing/2014/main" id="{EFED62CB-DD29-4892-8CC1-B8BCEA81A2AC}"/>
              </a:ext>
            </a:extLst>
          </p:cNvPr>
          <p:cNvSpPr>
            <a:spLocks xmlns:a="http://schemas.openxmlformats.org/drawingml/2006/main" noGrp="1"/>
          </p:cNvSpPr>
          <p:nvPr/>
        </p:nvSpPr>
        <p:spPr>
          <a:xfrm xmlns:a="http://schemas.openxmlformats.org/drawingml/2006/main">
            <a:off x="742950" y="157162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E9822A"/>
                </a:solidFill>
              </a:defRPr>
            </a:pPr>
            <a:r>
              <a:rPr sz="1350" b="1">
                <a:solidFill>
                  <a:srgbClr val="E9822A"/>
                </a:solidFill>
              </a:rPr>
              <a:t>最初の接続は失敗した場合</a:t>
            </a:r>
          </a:p>
        </p:txBody>
      </p:sp>
      <p:sp>
        <p:nvSpPr>
          <p:cNvPr id="6" name="">
            <a:extLst xmlns:a="http://schemas.openxmlformats.org/drawingml/2006/main">
              <a:ext uri="{FF2B5EF4-FFF2-40B4-BE49-F238E27FC236}">
                <a16:creationId xmlns:a16="http://schemas.microsoft.com/office/drawing/2014/main" id="{E59540FD-36B0-47CB-9CC9-4D9EF2C2CECE}"/>
              </a:ext>
            </a:extLst>
          </p:cNvPr>
          <p:cNvSpPr>
            <a:spLocks xmlns:a="http://schemas.openxmlformats.org/drawingml/2006/main" noGrp="1"/>
          </p:cNvSpPr>
          <p:nvPr/>
        </p:nvSpPr>
        <p:spPr>
          <a:xfrm xmlns:a="http://schemas.openxmlformats.org/drawingml/2006/main">
            <a:off x="762000" y="2038350"/>
            <a:ext cx="5143500" cy="1543050"/>
          </a:xfrm>
          <a:prstGeom xmlns:a="http://schemas.openxmlformats.org/drawingml/2006/main" prst="roundRect">
            <a:avLst>
              <a:gd name="adj" fmla="val 7407"/>
            </a:avLst>
          </a:prstGeom>
          <a:solidFill xmlns:a="http://schemas.openxmlformats.org/drawingml/2006/main">
            <a:srgbClr val="FFF1E5"/>
          </a:solidFill>
          <a:ln xmlns:a="http://schemas.openxmlformats.org/drawingml/2006/main" w="9525">
            <a:solidFill>
              <a:srgbClr val="E9822A"/>
            </a:solidFill>
            <a:prstDash val="solid"/>
          </a:ln>
        </p:spPr>
      </p:sp>
      <p:sp>
        <p:nvSpPr>
          <p:cNvPr id="7" name="">
            <a:extLst xmlns:a="http://schemas.openxmlformats.org/drawingml/2006/main">
              <a:ext uri="{FF2B5EF4-FFF2-40B4-BE49-F238E27FC236}">
                <a16:creationId xmlns:a16="http://schemas.microsoft.com/office/drawing/2014/main" id="{CD9A3178-9FE4-4677-906A-B61EA7C3E742}"/>
              </a:ext>
            </a:extLst>
          </p:cNvPr>
          <p:cNvSpPr>
            <a:spLocks xmlns:a="http://schemas.openxmlformats.org/drawingml/2006/main" noGrp="1"/>
          </p:cNvSpPr>
          <p:nvPr/>
        </p:nvSpPr>
        <p:spPr>
          <a:xfrm xmlns:a="http://schemas.openxmlformats.org/drawingml/2006/main">
            <a:off x="1000125" y="2247900"/>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E9822A"/>
                </a:solidFill>
              </a:defRPr>
            </a:pPr>
            <a:r>
              <a:rPr sz="1875" b="1">
                <a:solidFill>
                  <a:srgbClr val="E9822A"/>
                </a:solidFill>
              </a:rPr>
              <a:t>古いIPの可能性が高い</a:t>
            </a:r>
          </a:p>
        </p:txBody>
      </p:sp>
      <p:sp>
        <p:nvSpPr>
          <p:cNvPr id="8" name="">
            <a:extLst xmlns:a="http://schemas.openxmlformats.org/drawingml/2006/main">
              <a:ext uri="{FF2B5EF4-FFF2-40B4-BE49-F238E27FC236}">
                <a16:creationId xmlns:a16="http://schemas.microsoft.com/office/drawing/2014/main" id="{EBA01B09-DC40-4088-9E74-CFC34AE3948E}"/>
              </a:ext>
            </a:extLst>
          </p:cNvPr>
          <p:cNvSpPr>
            <a:spLocks xmlns:a="http://schemas.openxmlformats.org/drawingml/2006/main" noGrp="1"/>
          </p:cNvSpPr>
          <p:nvPr/>
        </p:nvSpPr>
        <p:spPr>
          <a:xfrm xmlns:a="http://schemas.openxmlformats.org/drawingml/2006/main">
            <a:off x="1000125" y="2809875"/>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02A43"/>
                </a:solidFill>
              </a:defRPr>
            </a:pPr>
            <a:r>
              <a:rPr sz="1350" b="0">
                <a:solidFill>
                  <a:srgbClr val="102A43"/>
                </a:solidFill>
              </a:rPr>
              <a:t>DNS変化 / 同じIP失敗 / 新IP成功</a:t>
            </a:r>
          </a:p>
        </p:txBody>
      </p:sp>
      <p:sp>
        <p:nvSpPr>
          <p:cNvPr id="9" name="">
            <a:extLst xmlns:a="http://schemas.openxmlformats.org/drawingml/2006/main">
              <a:ext uri="{FF2B5EF4-FFF2-40B4-BE49-F238E27FC236}">
                <a16:creationId xmlns:a16="http://schemas.microsoft.com/office/drawing/2014/main" id="{EECFF219-1303-4F6F-B59B-5471DC3544FC}"/>
              </a:ext>
            </a:extLst>
          </p:cNvPr>
          <p:cNvSpPr>
            <a:spLocks xmlns:a="http://schemas.openxmlformats.org/drawingml/2006/main" noGrp="1"/>
          </p:cNvSpPr>
          <p:nvPr/>
        </p:nvSpPr>
        <p:spPr>
          <a:xfrm xmlns:a="http://schemas.openxmlformats.org/drawingml/2006/main">
            <a:off x="1000125" y="3228975"/>
            <a:ext cx="4667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6B"/>
                </a:solidFill>
              </a:defRPr>
            </a:pPr>
            <a:r>
              <a:rPr sz="975" b="0">
                <a:solidFill>
                  <a:srgbClr val="52616B"/>
                </a:solidFill>
              </a:rPr>
              <a:t>stale_ip_likely</a:t>
            </a:r>
          </a:p>
        </p:txBody>
      </p:sp>
      <p:sp>
        <p:nvSpPr>
          <p:cNvPr id="10" name="">
            <a:extLst xmlns:a="http://schemas.openxmlformats.org/drawingml/2006/main">
              <a:ext uri="{FF2B5EF4-FFF2-40B4-BE49-F238E27FC236}">
                <a16:creationId xmlns:a16="http://schemas.microsoft.com/office/drawing/2014/main" id="{0DD2E5F1-42F1-439F-8C58-5D0345BD9DDB}"/>
              </a:ext>
            </a:extLst>
          </p:cNvPr>
          <p:cNvSpPr>
            <a:spLocks xmlns:a="http://schemas.openxmlformats.org/drawingml/2006/main" noGrp="1"/>
          </p:cNvSpPr>
          <p:nvPr/>
        </p:nvSpPr>
        <p:spPr>
          <a:xfrm xmlns:a="http://schemas.openxmlformats.org/drawingml/2006/main">
            <a:off x="6238875" y="2038350"/>
            <a:ext cx="5143500" cy="1543050"/>
          </a:xfrm>
          <a:prstGeom xmlns:a="http://schemas.openxmlformats.org/drawingml/2006/main" prst="roundRect">
            <a:avLst>
              <a:gd name="adj" fmla="val 7407"/>
            </a:avLst>
          </a:prstGeom>
          <a:solidFill xmlns:a="http://schemas.openxmlformats.org/drawingml/2006/main">
            <a:srgbClr val="E8F5ED"/>
          </a:solidFill>
          <a:ln xmlns:a="http://schemas.openxmlformats.org/drawingml/2006/main" w="9525">
            <a:solidFill>
              <a:srgbClr val="2F855A"/>
            </a:solidFill>
            <a:prstDash val="solid"/>
          </a:ln>
        </p:spPr>
      </p:sp>
      <p:sp>
        <p:nvSpPr>
          <p:cNvPr id="11" name="">
            <a:extLst xmlns:a="http://schemas.openxmlformats.org/drawingml/2006/main">
              <a:ext uri="{FF2B5EF4-FFF2-40B4-BE49-F238E27FC236}">
                <a16:creationId xmlns:a16="http://schemas.microsoft.com/office/drawing/2014/main" id="{F8FE4044-7427-4B4E-9340-49D929434BA0}"/>
              </a:ext>
            </a:extLst>
          </p:cNvPr>
          <p:cNvSpPr>
            <a:spLocks xmlns:a="http://schemas.openxmlformats.org/drawingml/2006/main" noGrp="1"/>
          </p:cNvSpPr>
          <p:nvPr/>
        </p:nvSpPr>
        <p:spPr>
          <a:xfrm xmlns:a="http://schemas.openxmlformats.org/drawingml/2006/main">
            <a:off x="6477000" y="2247900"/>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F855A"/>
                </a:solidFill>
              </a:defRPr>
            </a:pPr>
            <a:r>
              <a:rPr sz="1875" b="1">
                <a:solidFill>
                  <a:srgbClr val="2F855A"/>
                </a:solidFill>
              </a:rPr>
              <a:t>一時的障害の可能性</a:t>
            </a:r>
          </a:p>
        </p:txBody>
      </p:sp>
      <p:sp>
        <p:nvSpPr>
          <p:cNvPr id="12" name="">
            <a:extLst xmlns:a="http://schemas.openxmlformats.org/drawingml/2006/main">
              <a:ext uri="{FF2B5EF4-FFF2-40B4-BE49-F238E27FC236}">
                <a16:creationId xmlns:a16="http://schemas.microsoft.com/office/drawing/2014/main" id="{02C245DE-D6F3-4F58-9A52-DDAA35EC0D8C}"/>
              </a:ext>
            </a:extLst>
          </p:cNvPr>
          <p:cNvSpPr>
            <a:spLocks xmlns:a="http://schemas.openxmlformats.org/drawingml/2006/main" noGrp="1"/>
          </p:cNvSpPr>
          <p:nvPr/>
        </p:nvSpPr>
        <p:spPr>
          <a:xfrm xmlns:a="http://schemas.openxmlformats.org/drawingml/2006/main">
            <a:off x="6477000" y="2809875"/>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02A43"/>
                </a:solidFill>
              </a:defRPr>
            </a:pPr>
            <a:r>
              <a:rPr sz="1350" b="0">
                <a:solidFill>
                  <a:srgbClr val="102A43"/>
                </a:solidFill>
              </a:rPr>
              <a:t>DNS不変 / 同じIPの新規接続が成功</a:t>
            </a:r>
          </a:p>
        </p:txBody>
      </p:sp>
      <p:sp>
        <p:nvSpPr>
          <p:cNvPr id="13" name="">
            <a:extLst xmlns:a="http://schemas.openxmlformats.org/drawingml/2006/main">
              <a:ext uri="{FF2B5EF4-FFF2-40B4-BE49-F238E27FC236}">
                <a16:creationId xmlns:a16="http://schemas.microsoft.com/office/drawing/2014/main" id="{CF2C968A-57A5-436E-897F-DA6A2EDB95D7}"/>
              </a:ext>
            </a:extLst>
          </p:cNvPr>
          <p:cNvSpPr>
            <a:spLocks xmlns:a="http://schemas.openxmlformats.org/drawingml/2006/main" noGrp="1"/>
          </p:cNvSpPr>
          <p:nvPr/>
        </p:nvSpPr>
        <p:spPr>
          <a:xfrm xmlns:a="http://schemas.openxmlformats.org/drawingml/2006/main">
            <a:off x="6477000" y="3228975"/>
            <a:ext cx="4667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6B"/>
                </a:solidFill>
              </a:defRPr>
            </a:pPr>
            <a:r>
              <a:rPr sz="975" b="0">
                <a:solidFill>
                  <a:srgbClr val="52616B"/>
                </a:solidFill>
              </a:rPr>
              <a:t>transient_same_ip_recovered</a:t>
            </a:r>
          </a:p>
        </p:txBody>
      </p:sp>
      <p:sp>
        <p:nvSpPr>
          <p:cNvPr id="14" name="">
            <a:extLst xmlns:a="http://schemas.openxmlformats.org/drawingml/2006/main">
              <a:ext uri="{FF2B5EF4-FFF2-40B4-BE49-F238E27FC236}">
                <a16:creationId xmlns:a16="http://schemas.microsoft.com/office/drawing/2014/main" id="{6D047CF2-8FD2-43A1-A717-83660C474A45}"/>
              </a:ext>
            </a:extLst>
          </p:cNvPr>
          <p:cNvSpPr>
            <a:spLocks xmlns:a="http://schemas.openxmlformats.org/drawingml/2006/main" noGrp="1"/>
          </p:cNvSpPr>
          <p:nvPr/>
        </p:nvSpPr>
        <p:spPr>
          <a:xfrm xmlns:a="http://schemas.openxmlformats.org/drawingml/2006/main">
            <a:off x="762000" y="4105275"/>
            <a:ext cx="5143500" cy="1543050"/>
          </a:xfrm>
          <a:prstGeom xmlns:a="http://schemas.openxmlformats.org/drawingml/2006/main" prst="roundRect">
            <a:avLst>
              <a:gd name="adj" fmla="val 7407"/>
            </a:avLst>
          </a:prstGeom>
          <a:solidFill xmlns:a="http://schemas.openxmlformats.org/drawingml/2006/main">
            <a:srgbClr val="EEF2F6"/>
          </a:solidFill>
          <a:ln xmlns:a="http://schemas.openxmlformats.org/drawingml/2006/main" w="9525">
            <a:solidFill>
              <a:srgbClr val="718096"/>
            </a:solidFill>
            <a:prstDash val="solid"/>
          </a:ln>
        </p:spPr>
      </p:sp>
      <p:sp>
        <p:nvSpPr>
          <p:cNvPr id="15" name="">
            <a:extLst xmlns:a="http://schemas.openxmlformats.org/drawingml/2006/main">
              <a:ext uri="{FF2B5EF4-FFF2-40B4-BE49-F238E27FC236}">
                <a16:creationId xmlns:a16="http://schemas.microsoft.com/office/drawing/2014/main" id="{7AD59871-998D-402C-84B8-3EDCC25CBCF1}"/>
              </a:ext>
            </a:extLst>
          </p:cNvPr>
          <p:cNvSpPr>
            <a:spLocks xmlns:a="http://schemas.openxmlformats.org/drawingml/2006/main" noGrp="1"/>
          </p:cNvSpPr>
          <p:nvPr/>
        </p:nvSpPr>
        <p:spPr>
          <a:xfrm xmlns:a="http://schemas.openxmlformats.org/drawingml/2006/main">
            <a:off x="1000125" y="4314825"/>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718096"/>
                </a:solidFill>
              </a:defRPr>
            </a:pPr>
            <a:r>
              <a:rPr sz="1875" b="1">
                <a:solidFill>
                  <a:srgbClr val="718096"/>
                </a:solidFill>
              </a:rPr>
              <a:t>DNS以外の継続障害</a:t>
            </a:r>
          </a:p>
          <a:p xmlns:a="http://schemas.openxmlformats.org/drawingml/2006/main">
            <a:pPr algn="l">
              <a:defRPr sz="1875" b="1">
                <a:solidFill>
                  <a:srgbClr val="718096"/>
                </a:solidFill>
              </a:defRPr>
            </a:pPr>
            <a:r>
              <a:rPr sz="1875" b="1">
                <a:solidFill>
                  <a:srgbClr val="718096"/>
                </a:solidFill>
              </a:rPr>
              <a:t>または原因不明</a:t>
            </a:r>
          </a:p>
        </p:txBody>
      </p:sp>
      <p:sp>
        <p:nvSpPr>
          <p:cNvPr id="16" name="">
            <a:extLst xmlns:a="http://schemas.openxmlformats.org/drawingml/2006/main">
              <a:ext uri="{FF2B5EF4-FFF2-40B4-BE49-F238E27FC236}">
                <a16:creationId xmlns:a16="http://schemas.microsoft.com/office/drawing/2014/main" id="{136B9047-6D51-48A8-8124-287905818652}"/>
              </a:ext>
            </a:extLst>
          </p:cNvPr>
          <p:cNvSpPr>
            <a:spLocks xmlns:a="http://schemas.openxmlformats.org/drawingml/2006/main" noGrp="1"/>
          </p:cNvSpPr>
          <p:nvPr/>
        </p:nvSpPr>
        <p:spPr>
          <a:xfrm xmlns:a="http://schemas.openxmlformats.org/drawingml/2006/main">
            <a:off x="1000125" y="487680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02A43"/>
                </a:solidFill>
              </a:defRPr>
            </a:pPr>
            <a:r>
              <a:rPr sz="1350" b="0">
                <a:solidFill>
                  <a:srgbClr val="102A43"/>
                </a:solidFill>
              </a:rPr>
              <a:t>DNS不変 / 同じIPの新規接続も失敗</a:t>
            </a:r>
          </a:p>
        </p:txBody>
      </p:sp>
      <p:sp>
        <p:nvSpPr>
          <p:cNvPr id="17" name="">
            <a:extLst xmlns:a="http://schemas.openxmlformats.org/drawingml/2006/main">
              <a:ext uri="{FF2B5EF4-FFF2-40B4-BE49-F238E27FC236}">
                <a16:creationId xmlns:a16="http://schemas.microsoft.com/office/drawing/2014/main" id="{547A2586-EE80-4F87-BBE0-41083D5FF047}"/>
              </a:ext>
            </a:extLst>
          </p:cNvPr>
          <p:cNvSpPr>
            <a:spLocks xmlns:a="http://schemas.openxmlformats.org/drawingml/2006/main" noGrp="1"/>
          </p:cNvSpPr>
          <p:nvPr/>
        </p:nvSpPr>
        <p:spPr>
          <a:xfrm xmlns:a="http://schemas.openxmlformats.org/drawingml/2006/main">
            <a:off x="1000125" y="5295900"/>
            <a:ext cx="4667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6B"/>
                </a:solidFill>
              </a:defRPr>
            </a:pPr>
            <a:r>
              <a:rPr sz="975" b="0">
                <a:solidFill>
                  <a:srgbClr val="52616B"/>
                </a:solidFill>
              </a:rPr>
              <a:t>non_dns_or_persistent_unknown</a:t>
            </a:r>
          </a:p>
        </p:txBody>
      </p:sp>
      <p:sp>
        <p:nvSpPr>
          <p:cNvPr id="18" name="">
            <a:extLst xmlns:a="http://schemas.openxmlformats.org/drawingml/2006/main">
              <a:ext uri="{FF2B5EF4-FFF2-40B4-BE49-F238E27FC236}">
                <a16:creationId xmlns:a16="http://schemas.microsoft.com/office/drawing/2014/main" id="{AF792B1C-E37C-4F4E-9048-0F31D291C764}"/>
              </a:ext>
            </a:extLst>
          </p:cNvPr>
          <p:cNvSpPr>
            <a:spLocks xmlns:a="http://schemas.openxmlformats.org/drawingml/2006/main" noGrp="1"/>
          </p:cNvSpPr>
          <p:nvPr/>
        </p:nvSpPr>
        <p:spPr>
          <a:xfrm xmlns:a="http://schemas.openxmlformats.org/drawingml/2006/main">
            <a:off x="6238875" y="4105275"/>
            <a:ext cx="5143500" cy="1543050"/>
          </a:xfrm>
          <a:prstGeom xmlns:a="http://schemas.openxmlformats.org/drawingml/2006/main" prst="roundRect">
            <a:avLst>
              <a:gd name="adj" fmla="val 7407"/>
            </a:avLst>
          </a:prstGeom>
          <a:solidFill xmlns:a="http://schemas.openxmlformats.org/drawingml/2006/main">
            <a:srgbClr val="E8F2FB"/>
          </a:solidFill>
          <a:ln xmlns:a="http://schemas.openxmlformats.org/drawingml/2006/main" w="9525">
            <a:solidFill>
              <a:srgbClr val="1769AA"/>
            </a:solidFill>
            <a:prstDash val="solid"/>
          </a:ln>
        </p:spPr>
      </p:sp>
      <p:sp>
        <p:nvSpPr>
          <p:cNvPr id="19" name="">
            <a:extLst xmlns:a="http://schemas.openxmlformats.org/drawingml/2006/main">
              <a:ext uri="{FF2B5EF4-FFF2-40B4-BE49-F238E27FC236}">
                <a16:creationId xmlns:a16="http://schemas.microsoft.com/office/drawing/2014/main" id="{179D0A2E-54AB-46EB-A1B1-0B467FAB63E5}"/>
              </a:ext>
            </a:extLst>
          </p:cNvPr>
          <p:cNvSpPr>
            <a:spLocks xmlns:a="http://schemas.openxmlformats.org/drawingml/2006/main" noGrp="1"/>
          </p:cNvSpPr>
          <p:nvPr/>
        </p:nvSpPr>
        <p:spPr>
          <a:xfrm xmlns:a="http://schemas.openxmlformats.org/drawingml/2006/main">
            <a:off x="6477000" y="4314825"/>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769AA"/>
                </a:solidFill>
              </a:defRPr>
            </a:pPr>
            <a:r>
              <a:rPr sz="1875" b="1">
                <a:solidFill>
                  <a:srgbClr val="1769AA"/>
                </a:solidFill>
              </a:rPr>
              <a:t>DNSは変化したが</a:t>
            </a:r>
          </a:p>
          <a:p xmlns:a="http://schemas.openxmlformats.org/drawingml/2006/main">
            <a:pPr algn="l">
              <a:defRPr sz="1875" b="1">
                <a:solidFill>
                  <a:srgbClr val="1769AA"/>
                </a:solidFill>
              </a:defRPr>
            </a:pPr>
            <a:r>
              <a:rPr sz="1875" b="1">
                <a:solidFill>
                  <a:srgbClr val="1769AA"/>
                </a:solidFill>
              </a:rPr>
              <a:t>旧IPも利用可能</a:t>
            </a:r>
          </a:p>
        </p:txBody>
      </p:sp>
      <p:sp>
        <p:nvSpPr>
          <p:cNvPr id="20" name="">
            <a:extLst xmlns:a="http://schemas.openxmlformats.org/drawingml/2006/main">
              <a:ext uri="{FF2B5EF4-FFF2-40B4-BE49-F238E27FC236}">
                <a16:creationId xmlns:a16="http://schemas.microsoft.com/office/drawing/2014/main" id="{67B2F75D-C4AF-461A-80AA-DDB41AF06E27}"/>
              </a:ext>
            </a:extLst>
          </p:cNvPr>
          <p:cNvSpPr>
            <a:spLocks xmlns:a="http://schemas.openxmlformats.org/drawingml/2006/main" noGrp="1"/>
          </p:cNvSpPr>
          <p:nvPr/>
        </p:nvSpPr>
        <p:spPr>
          <a:xfrm xmlns:a="http://schemas.openxmlformats.org/drawingml/2006/main">
            <a:off x="6477000" y="487680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02A43"/>
                </a:solidFill>
              </a:defRPr>
            </a:pPr>
            <a:r>
              <a:rPr sz="1350" b="0">
                <a:solidFill>
                  <a:srgbClr val="102A43"/>
                </a:solidFill>
              </a:rPr>
              <a:t>DNS変化 / 新旧どちらのIPでも成功</a:t>
            </a:r>
          </a:p>
        </p:txBody>
      </p:sp>
      <p:sp>
        <p:nvSpPr>
          <p:cNvPr id="21" name="">
            <a:extLst xmlns:a="http://schemas.openxmlformats.org/drawingml/2006/main">
              <a:ext uri="{FF2B5EF4-FFF2-40B4-BE49-F238E27FC236}">
                <a16:creationId xmlns:a16="http://schemas.microsoft.com/office/drawing/2014/main" id="{728FEE01-D55F-4D92-B2C0-2C7EDBDBED80}"/>
              </a:ext>
            </a:extLst>
          </p:cNvPr>
          <p:cNvSpPr>
            <a:spLocks xmlns:a="http://schemas.openxmlformats.org/drawingml/2006/main" noGrp="1"/>
          </p:cNvSpPr>
          <p:nvPr/>
        </p:nvSpPr>
        <p:spPr>
          <a:xfrm xmlns:a="http://schemas.openxmlformats.org/drawingml/2006/main">
            <a:off x="6477000" y="5295900"/>
            <a:ext cx="4667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16B"/>
                </a:solidFill>
              </a:defRPr>
            </a:pPr>
            <a:r>
              <a:rPr sz="975" b="0">
                <a:solidFill>
                  <a:srgbClr val="52616B"/>
                </a:solidFill>
              </a:rPr>
              <a:t>dns_changed_old_still_usable</a:t>
            </a:r>
          </a:p>
        </p:txBody>
      </p:sp>
      <p:sp>
        <p:nvSpPr>
          <p:cNvPr id="22" name="">
            <a:extLst xmlns:a="http://schemas.openxmlformats.org/drawingml/2006/main">
              <a:ext uri="{FF2B5EF4-FFF2-40B4-BE49-F238E27FC236}">
                <a16:creationId xmlns:a16="http://schemas.microsoft.com/office/drawing/2014/main" id="{43EAE681-CF4F-4EF6-8192-6238D5C7F738}"/>
              </a:ext>
            </a:extLst>
          </p:cNvPr>
          <p:cNvSpPr>
            <a:spLocks xmlns:a="http://schemas.openxmlformats.org/drawingml/2006/main" noGrp="1"/>
          </p:cNvSpPr>
          <p:nvPr/>
        </p:nvSpPr>
        <p:spPr>
          <a:xfrm xmlns:a="http://schemas.openxmlformats.org/drawingml/2006/main">
            <a:off x="685800" y="6457950"/>
            <a:ext cx="295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18096"/>
                </a:solidFill>
              </a:defRPr>
            </a:pPr>
            <a:r>
              <a:rPr sz="900" b="0">
                <a:solidFill>
                  <a:srgbClr val="718096"/>
                </a:solidFill>
              </a:rPr>
              <a:t>卒論テーマ相談</a:t>
            </a:r>
          </a:p>
        </p:txBody>
      </p:sp>
      <p:sp>
        <p:nvSpPr>
          <p:cNvPr id="23" name="">
            <a:extLst xmlns:a="http://schemas.openxmlformats.org/drawingml/2006/main">
              <a:ext uri="{FF2B5EF4-FFF2-40B4-BE49-F238E27FC236}">
                <a16:creationId xmlns:a16="http://schemas.microsoft.com/office/drawing/2014/main" id="{5A81A781-58A0-4B8E-A44F-39B584BED3BA}"/>
              </a:ext>
            </a:extLst>
          </p:cNvPr>
          <p:cNvSpPr>
            <a:spLocks xmlns:a="http://schemas.openxmlformats.org/drawingml/2006/main" noGrp="1"/>
          </p:cNvSpPr>
          <p:nvPr/>
        </p:nvSpPr>
        <p:spPr>
          <a:xfrm xmlns:a="http://schemas.openxmlformats.org/drawingml/2006/main">
            <a:off x="8001000" y="6457950"/>
            <a:ext cx="3505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718096"/>
                </a:solidFill>
              </a:defRPr>
            </a:pPr>
            <a:r>
              <a:rPr sz="900" b="0">
                <a:solidFill>
                  <a:srgbClr val="718096"/>
                </a:solidFill>
              </a:rPr>
              <a:t>Aeacusを先行研究としたテーマ案</a:t>
            </a:r>
          </a:p>
        </p:txBody>
      </p:sp>
    </p:spTree>
    <p:extLst>
      <p:ext uri="{BB962C8B-B14F-4D97-AF65-F5344CB8AC3E}">
        <p14:creationId xmlns:p14="http://schemas.microsoft.com/office/powerpoint/2010/main" val="1800598470"/>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761466A-8D17-448A-93DA-6569B505CE8B}"/>
              </a:ext>
            </a:extLst>
          </p:cNvPr>
          <p:cNvSpPr>
            <a:spLocks xmlns:a="http://schemas.openxmlformats.org/drawingml/2006/main" noGrp="1"/>
          </p:cNvSpPr>
          <p:nvPr/>
        </p:nvSpPr>
        <p:spPr>
          <a:xfrm xmlns:a="http://schemas.openxmlformats.org/drawingml/2006/main">
            <a:off x="685800" y="400050"/>
            <a:ext cx="2952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769AA"/>
                </a:solidFill>
              </a:defRPr>
            </a:pPr>
            <a:r>
              <a:rPr sz="975" b="1">
                <a:solidFill>
                  <a:srgbClr val="1769AA"/>
                </a:solidFill>
              </a:rPr>
              <a:t>現在の状況と進め方</a:t>
            </a:r>
          </a:p>
        </p:txBody>
      </p:sp>
      <p:sp>
        <p:nvSpPr>
          <p:cNvPr id="2" name="">
            <a:extLst xmlns:a="http://schemas.openxmlformats.org/drawingml/2006/main">
              <a:ext uri="{FF2B5EF4-FFF2-40B4-BE49-F238E27FC236}">
                <a16:creationId xmlns:a16="http://schemas.microsoft.com/office/drawing/2014/main" id="{E5DBD853-9621-47A5-A6E8-7714B68A90BB}"/>
              </a:ext>
            </a:extLst>
          </p:cNvPr>
          <p:cNvSpPr>
            <a:spLocks xmlns:a="http://schemas.openxmlformats.org/drawingml/2006/main" noGrp="1"/>
          </p:cNvSpPr>
          <p:nvPr/>
        </p:nvSpPr>
        <p:spPr>
          <a:xfrm xmlns:a="http://schemas.openxmlformats.org/drawingml/2006/main">
            <a:off x="685800" y="685800"/>
            <a:ext cx="1076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02A43"/>
                </a:solidFill>
              </a:defRPr>
            </a:pPr>
            <a:r>
              <a:rPr sz="2700" b="1">
                <a:solidFill>
                  <a:srgbClr val="102A43"/>
                </a:solidFill>
              </a:rPr>
              <a:t>人工的な障害分類は確認済み。実ネットワークの実態は未調査</a:t>
            </a:r>
          </a:p>
        </p:txBody>
      </p:sp>
      <p:sp>
        <p:nvSpPr>
          <p:cNvPr id="3" name="">
            <a:extLst xmlns:a="http://schemas.openxmlformats.org/drawingml/2006/main">
              <a:ext uri="{FF2B5EF4-FFF2-40B4-BE49-F238E27FC236}">
                <a16:creationId xmlns:a16="http://schemas.microsoft.com/office/drawing/2014/main" id="{6F1F7D01-DCC5-465E-AA1B-089CC3A76263}"/>
              </a:ext>
            </a:extLst>
          </p:cNvPr>
          <p:cNvSpPr>
            <a:spLocks xmlns:a="http://schemas.openxmlformats.org/drawingml/2006/main" noGrp="1"/>
          </p:cNvSpPr>
          <p:nvPr/>
        </p:nvSpPr>
        <p:spPr>
          <a:xfrm xmlns:a="http://schemas.openxmlformats.org/drawingml/2006/main">
            <a:off x="11144250" y="4000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718096"/>
                </a:solidFill>
              </a:defRPr>
            </a:pPr>
            <a:r>
              <a:rPr sz="1050" b="1">
                <a:solidFill>
                  <a:srgbClr val="718096"/>
                </a:solidFill>
              </a:rPr>
              <a:t>07</a:t>
            </a:r>
          </a:p>
        </p:txBody>
      </p:sp>
      <p:sp>
        <p:nvSpPr>
          <p:cNvPr id="4" name="">
            <a:extLst xmlns:a="http://schemas.openxmlformats.org/drawingml/2006/main">
              <a:ext uri="{FF2B5EF4-FFF2-40B4-BE49-F238E27FC236}">
                <a16:creationId xmlns:a16="http://schemas.microsoft.com/office/drawing/2014/main" id="{EA37D702-C98F-41AB-A2DE-26F21A234171}"/>
              </a:ext>
            </a:extLst>
          </p:cNvPr>
          <p:cNvSpPr>
            <a:spLocks xmlns:a="http://schemas.openxmlformats.org/drawingml/2006/main" noGrp="1"/>
          </p:cNvSpPr>
          <p:nvPr/>
        </p:nvSpPr>
        <p:spPr>
          <a:xfrm xmlns:a="http://schemas.openxmlformats.org/drawingml/2006/main">
            <a:off x="685800" y="1314450"/>
            <a:ext cx="10820400" cy="19050"/>
          </a:xfrm>
          <a:prstGeom xmlns:a="http://schemas.openxmlformats.org/drawingml/2006/main" prst="rect">
            <a:avLst/>
          </a:prstGeom>
          <a:solidFill xmlns:a="http://schemas.openxmlformats.org/drawingml/2006/main">
            <a:srgbClr val="E8EEF5"/>
          </a:solidFill>
          <a:ln xmlns:a="http://schemas.openxmlformats.org/drawingml/2006/main" w="0">
            <a:solidFill>
              <a:srgbClr val="E8EEF5"/>
            </a:solidFill>
            <a:prstDash val="solid"/>
          </a:ln>
        </p:spPr>
      </p:sp>
      <p:sp>
        <p:nvSpPr>
          <p:cNvPr id="5" name="">
            <a:extLst xmlns:a="http://schemas.openxmlformats.org/drawingml/2006/main">
              <a:ext uri="{FF2B5EF4-FFF2-40B4-BE49-F238E27FC236}">
                <a16:creationId xmlns:a16="http://schemas.microsoft.com/office/drawing/2014/main" id="{977460D1-C478-4A8C-BBC8-8F9C92C475EC}"/>
              </a:ext>
            </a:extLst>
          </p:cNvPr>
          <p:cNvSpPr>
            <a:spLocks xmlns:a="http://schemas.openxmlformats.org/drawingml/2006/main" noGrp="1"/>
          </p:cNvSpPr>
          <p:nvPr/>
        </p:nvSpPr>
        <p:spPr>
          <a:xfrm xmlns:a="http://schemas.openxmlformats.org/drawingml/2006/main">
            <a:off x="819150" y="16764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769AA"/>
                </a:solidFill>
              </a:defRPr>
            </a:pPr>
            <a:r>
              <a:rPr sz="1875" b="1">
                <a:solidFill>
                  <a:srgbClr val="1769AA"/>
                </a:solidFill>
              </a:rPr>
              <a:t>現在の簡易実験</a:t>
            </a:r>
          </a:p>
        </p:txBody>
      </p:sp>
      <p:sp>
        <p:nvSpPr>
          <p:cNvPr id="6" name="">
            <a:extLst xmlns:a="http://schemas.openxmlformats.org/drawingml/2006/main">
              <a:ext uri="{FF2B5EF4-FFF2-40B4-BE49-F238E27FC236}">
                <a16:creationId xmlns:a16="http://schemas.microsoft.com/office/drawing/2014/main" id="{927DFE6D-20EB-495D-BC06-5ADFDB95084E}"/>
              </a:ext>
            </a:extLst>
          </p:cNvPr>
          <p:cNvSpPr>
            <a:spLocks xmlns:a="http://schemas.openxmlformats.org/drawingml/2006/main" noGrp="1"/>
          </p:cNvSpPr>
          <p:nvPr/>
        </p:nvSpPr>
        <p:spPr>
          <a:xfrm xmlns:a="http://schemas.openxmlformats.org/drawingml/2006/main">
            <a:off x="781050" y="2105025"/>
            <a:ext cx="5000625" cy="2619375"/>
          </a:xfrm>
          <a:prstGeom xmlns:a="http://schemas.openxmlformats.org/drawingml/2006/main" prst="roundRect">
            <a:avLst>
              <a:gd name="adj" fmla="val 4364"/>
            </a:avLst>
          </a:prstGeom>
          <a:solidFill xmlns:a="http://schemas.openxmlformats.org/drawingml/2006/main">
            <a:srgbClr val="E8F2FB"/>
          </a:solidFill>
          <a:ln xmlns:a="http://schemas.openxmlformats.org/drawingml/2006/main" w="9525">
            <a:solidFill>
              <a:srgbClr val="1769AA"/>
            </a:solidFill>
            <a:prstDash val="solid"/>
          </a:ln>
        </p:spPr>
      </p:sp>
      <p:sp>
        <p:nvSpPr>
          <p:cNvPr id="7" name="">
            <a:extLst xmlns:a="http://schemas.openxmlformats.org/drawingml/2006/main">
              <a:ext uri="{FF2B5EF4-FFF2-40B4-BE49-F238E27FC236}">
                <a16:creationId xmlns:a16="http://schemas.microsoft.com/office/drawing/2014/main" id="{796C9E0F-E481-4C15-8C07-27CE545A6002}"/>
              </a:ext>
            </a:extLst>
          </p:cNvPr>
          <p:cNvSpPr>
            <a:spLocks xmlns:a="http://schemas.openxmlformats.org/drawingml/2006/main" noGrp="1"/>
          </p:cNvSpPr>
          <p:nvPr/>
        </p:nvSpPr>
        <p:spPr>
          <a:xfrm xmlns:a="http://schemas.openxmlformats.org/drawingml/2006/main">
            <a:off x="1104900" y="2428875"/>
            <a:ext cx="43338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43"/>
                </a:solidFill>
              </a:defRPr>
            </a:pPr>
            <a:r>
              <a:rPr sz="1650" b="0">
                <a:solidFill>
                  <a:srgbClr val="102A43"/>
                </a:solidFill>
              </a:rPr>
              <a:t>• 5種類の人工的な障害を設定</a:t>
            </a:r>
          </a:p>
          <a:p xmlns:a="http://schemas.openxmlformats.org/drawingml/2006/main">
            <a:pPr algn="l">
              <a:defRPr sz="1650" b="0">
                <a:solidFill>
                  <a:srgbClr val="102A43"/>
                </a:solidFill>
              </a:defRPr>
            </a:pPr>
            <a:r>
              <a:rPr sz="1650" b="0">
                <a:solidFill>
                  <a:srgbClr val="102A43"/>
                </a:solidFill>
              </a:rPr>
              <a:t>• 各20回、合計100回を実行</a:t>
            </a:r>
          </a:p>
          <a:p xmlns:a="http://schemas.openxmlformats.org/drawingml/2006/main">
            <a:pPr algn="l">
              <a:defRPr sz="1650" b="0">
                <a:solidFill>
                  <a:srgbClr val="102A43"/>
                </a:solidFill>
              </a:defRPr>
            </a:pPr>
            <a:r>
              <a:rPr sz="1650" b="0">
                <a:solidFill>
                  <a:srgbClr val="102A43"/>
                </a:solidFill>
              </a:rPr>
              <a:t>• 想定した分類への振り分けを確認</a:t>
            </a:r>
          </a:p>
          <a:p xmlns:a="http://schemas.openxmlformats.org/drawingml/2006/main">
            <a:r>
              <a:t/>
            </a:r>
          </a:p>
          <a:p xmlns:a="http://schemas.openxmlformats.org/drawingml/2006/main">
            <a:pPr algn="l">
              <a:defRPr sz="1650" b="0">
                <a:solidFill>
                  <a:srgbClr val="102A43"/>
                </a:solidFill>
              </a:defRPr>
            </a:pPr>
            <a:r>
              <a:rPr sz="1650" b="0">
                <a:solidFill>
                  <a:srgbClr val="102A43"/>
                </a:solidFill>
              </a:rPr>
              <a:t>※ 実ネットワークにおける原因割合は</a:t>
            </a:r>
          </a:p>
          <a:p xmlns:a="http://schemas.openxmlformats.org/drawingml/2006/main">
            <a:pPr algn="l">
              <a:defRPr sz="1650" b="0">
                <a:solidFill>
                  <a:srgbClr val="102A43"/>
                </a:solidFill>
              </a:defRPr>
            </a:pPr>
            <a:r>
              <a:rPr sz="1650" b="0">
                <a:solidFill>
                  <a:srgbClr val="102A43"/>
                </a:solidFill>
              </a:rPr>
              <a:t>　 まだ示していない</a:t>
            </a:r>
          </a:p>
        </p:txBody>
      </p:sp>
      <p:sp>
        <p:nvSpPr>
          <p:cNvPr id="8" name="">
            <a:extLst xmlns:a="http://schemas.openxmlformats.org/drawingml/2006/main">
              <a:ext uri="{FF2B5EF4-FFF2-40B4-BE49-F238E27FC236}">
                <a16:creationId xmlns:a16="http://schemas.microsoft.com/office/drawing/2014/main" id="{B70A3632-B7A6-40FF-AFAB-899A4A68AAC9}"/>
              </a:ext>
            </a:extLst>
          </p:cNvPr>
          <p:cNvSpPr>
            <a:spLocks xmlns:a="http://schemas.openxmlformats.org/drawingml/2006/main" noGrp="1"/>
          </p:cNvSpPr>
          <p:nvPr/>
        </p:nvSpPr>
        <p:spPr>
          <a:xfrm xmlns:a="http://schemas.openxmlformats.org/drawingml/2006/main">
            <a:off x="6524625" y="16764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F855A"/>
                </a:solidFill>
              </a:defRPr>
            </a:pPr>
            <a:r>
              <a:rPr sz="1875" b="1">
                <a:solidFill>
                  <a:srgbClr val="2F855A"/>
                </a:solidFill>
              </a:rPr>
              <a:t>卒論として想定する進め方</a:t>
            </a:r>
          </a:p>
        </p:txBody>
      </p:sp>
      <p:sp>
        <p:nvSpPr>
          <p:cNvPr id="9" name="">
            <a:extLst xmlns:a="http://schemas.openxmlformats.org/drawingml/2006/main">
              <a:ext uri="{FF2B5EF4-FFF2-40B4-BE49-F238E27FC236}">
                <a16:creationId xmlns:a16="http://schemas.microsoft.com/office/drawing/2014/main" id="{31F1241C-0981-434E-8F5A-64C5DDD5FB0A}"/>
              </a:ext>
            </a:extLst>
          </p:cNvPr>
          <p:cNvSpPr>
            <a:spLocks xmlns:a="http://schemas.openxmlformats.org/drawingml/2006/main" noGrp="1"/>
          </p:cNvSpPr>
          <p:nvPr/>
        </p:nvSpPr>
        <p:spPr>
          <a:xfrm xmlns:a="http://schemas.openxmlformats.org/drawingml/2006/main">
            <a:off x="6438900" y="2105025"/>
            <a:ext cx="4953000" cy="2619375"/>
          </a:xfrm>
          <a:prstGeom xmlns:a="http://schemas.openxmlformats.org/drawingml/2006/main" prst="roundRect">
            <a:avLst>
              <a:gd name="adj" fmla="val 4364"/>
            </a:avLst>
          </a:prstGeom>
          <a:solidFill xmlns:a="http://schemas.openxmlformats.org/drawingml/2006/main">
            <a:srgbClr val="E8F5ED"/>
          </a:solidFill>
          <a:ln xmlns:a="http://schemas.openxmlformats.org/drawingml/2006/main" w="9525">
            <a:solidFill>
              <a:srgbClr val="2F855A"/>
            </a:solidFill>
            <a:prstDash val="solid"/>
          </a:ln>
        </p:spPr>
      </p:sp>
      <p:sp>
        <p:nvSpPr>
          <p:cNvPr id="10" name="">
            <a:extLst xmlns:a="http://schemas.openxmlformats.org/drawingml/2006/main">
              <a:ext uri="{FF2B5EF4-FFF2-40B4-BE49-F238E27FC236}">
                <a16:creationId xmlns:a16="http://schemas.microsoft.com/office/drawing/2014/main" id="{4ED8184C-954B-4C0B-82F0-273967FD62AB}"/>
              </a:ext>
            </a:extLst>
          </p:cNvPr>
          <p:cNvSpPr>
            <a:spLocks xmlns:a="http://schemas.openxmlformats.org/drawingml/2006/main" noGrp="1"/>
          </p:cNvSpPr>
          <p:nvPr/>
        </p:nvSpPr>
        <p:spPr>
          <a:xfrm xmlns:a="http://schemas.openxmlformats.org/drawingml/2006/main">
            <a:off x="6762750" y="2447925"/>
            <a:ext cx="4267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02A43"/>
                </a:solidFill>
              </a:defRPr>
            </a:pPr>
            <a:r>
              <a:rPr sz="1575" b="0">
                <a:solidFill>
                  <a:srgbClr val="102A43"/>
                </a:solidFill>
              </a:rPr>
              <a:t>1. Aeacusの最小再現環境を構築</a:t>
            </a:r>
          </a:p>
          <a:p xmlns:a="http://schemas.openxmlformats.org/drawingml/2006/main">
            <a:pPr algn="l">
              <a:defRPr sz="1575" b="0">
                <a:solidFill>
                  <a:srgbClr val="102A43"/>
                </a:solidFill>
              </a:defRPr>
            </a:pPr>
            <a:r>
              <a:rPr sz="1575" b="0">
                <a:solidFill>
                  <a:srgbClr val="102A43"/>
                </a:solidFill>
              </a:rPr>
              <a:t>2. qlog・DNS応答・接続結果を収集</a:t>
            </a:r>
          </a:p>
          <a:p xmlns:a="http://schemas.openxmlformats.org/drawingml/2006/main">
            <a:pPr algn="l">
              <a:defRPr sz="1575" b="0">
                <a:solidFill>
                  <a:srgbClr val="102A43"/>
                </a:solidFill>
              </a:defRPr>
            </a:pPr>
            <a:r>
              <a:rPr sz="1575" b="0">
                <a:solidFill>
                  <a:srgbClr val="102A43"/>
                </a:solidFill>
              </a:rPr>
              <a:t>3. 原因別の件数と割合を分析</a:t>
            </a:r>
          </a:p>
          <a:p xmlns:a="http://schemas.openxmlformats.org/drawingml/2006/main">
            <a:pPr algn="l">
              <a:defRPr sz="1575" b="0">
                <a:solidFill>
                  <a:srgbClr val="102A43"/>
                </a:solidFill>
              </a:defRPr>
            </a:pPr>
            <a:r>
              <a:rPr sz="1575" b="0">
                <a:solidFill>
                  <a:srgbClr val="102A43"/>
                </a:solidFill>
              </a:rPr>
              <a:t>4. 結果を基に制御改善の価値を判断</a:t>
            </a:r>
          </a:p>
        </p:txBody>
      </p:sp>
      <p:sp>
        <p:nvSpPr>
          <p:cNvPr id="11" name="">
            <a:extLst xmlns:a="http://schemas.openxmlformats.org/drawingml/2006/main">
              <a:ext uri="{FF2B5EF4-FFF2-40B4-BE49-F238E27FC236}">
                <a16:creationId xmlns:a16="http://schemas.microsoft.com/office/drawing/2014/main" id="{68DC9D4A-FE99-40C7-8EEC-C8A6D291E0D9}"/>
              </a:ext>
            </a:extLst>
          </p:cNvPr>
          <p:cNvSpPr>
            <a:spLocks xmlns:a="http://schemas.openxmlformats.org/drawingml/2006/main" noGrp="1"/>
          </p:cNvSpPr>
          <p:nvPr/>
        </p:nvSpPr>
        <p:spPr>
          <a:xfrm xmlns:a="http://schemas.openxmlformats.org/drawingml/2006/main">
            <a:off x="914400" y="5238750"/>
            <a:ext cx="10344150" cy="638175"/>
          </a:xfrm>
          <a:prstGeom xmlns:a="http://schemas.openxmlformats.org/drawingml/2006/main" prst="roundRect">
            <a:avLst>
              <a:gd name="adj" fmla="val 17910"/>
            </a:avLst>
          </a:prstGeom>
          <a:solidFill xmlns:a="http://schemas.openxmlformats.org/drawingml/2006/main">
            <a:srgbClr val="FFF1E5"/>
          </a:solidFill>
          <a:ln xmlns:a="http://schemas.openxmlformats.org/drawingml/2006/main" w="9525">
            <a:solidFill>
              <a:srgbClr val="E9822A"/>
            </a:solidFill>
            <a:prstDash val="solid"/>
          </a:ln>
        </p:spPr>
      </p:sp>
      <p:sp>
        <p:nvSpPr>
          <p:cNvPr id="12" name="">
            <a:extLst xmlns:a="http://schemas.openxmlformats.org/drawingml/2006/main">
              <a:ext uri="{FF2B5EF4-FFF2-40B4-BE49-F238E27FC236}">
                <a16:creationId xmlns:a16="http://schemas.microsoft.com/office/drawing/2014/main" id="{6E8082DC-2208-4EAA-A8EB-6FD16CFC7758}"/>
              </a:ext>
            </a:extLst>
          </p:cNvPr>
          <p:cNvSpPr>
            <a:spLocks xmlns:a="http://schemas.openxmlformats.org/drawingml/2006/main" noGrp="1"/>
          </p:cNvSpPr>
          <p:nvPr/>
        </p:nvSpPr>
        <p:spPr>
          <a:xfrm xmlns:a="http://schemas.openxmlformats.org/drawingml/2006/main">
            <a:off x="1143000" y="5448300"/>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E9822A"/>
                </a:solidFill>
              </a:defRPr>
            </a:pPr>
            <a:r>
              <a:rPr sz="1500" b="1">
                <a:solidFill>
                  <a:srgbClr val="E9822A"/>
                </a:solidFill>
              </a:rPr>
              <a:t>Aeacus全体（Initial/SNI転送・UPF/NAT・monitor）は未再現。公式コードの基礎部品を確認中。</a:t>
            </a:r>
          </a:p>
        </p:txBody>
      </p:sp>
      <p:sp>
        <p:nvSpPr>
          <p:cNvPr id="13" name="">
            <a:extLst xmlns:a="http://schemas.openxmlformats.org/drawingml/2006/main">
              <a:ext uri="{FF2B5EF4-FFF2-40B4-BE49-F238E27FC236}">
                <a16:creationId xmlns:a16="http://schemas.microsoft.com/office/drawing/2014/main" id="{994CB308-12B1-4104-8072-D3FFEAB17908}"/>
              </a:ext>
            </a:extLst>
          </p:cNvPr>
          <p:cNvSpPr>
            <a:spLocks xmlns:a="http://schemas.openxmlformats.org/drawingml/2006/main" noGrp="1"/>
          </p:cNvSpPr>
          <p:nvPr/>
        </p:nvSpPr>
        <p:spPr>
          <a:xfrm xmlns:a="http://schemas.openxmlformats.org/drawingml/2006/main">
            <a:off x="685800" y="6457950"/>
            <a:ext cx="295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18096"/>
                </a:solidFill>
              </a:defRPr>
            </a:pPr>
            <a:r>
              <a:rPr sz="900" b="0">
                <a:solidFill>
                  <a:srgbClr val="718096"/>
                </a:solidFill>
              </a:rPr>
              <a:t>卒論テーマ相談</a:t>
            </a:r>
          </a:p>
        </p:txBody>
      </p:sp>
      <p:sp>
        <p:nvSpPr>
          <p:cNvPr id="14" name="">
            <a:extLst xmlns:a="http://schemas.openxmlformats.org/drawingml/2006/main">
              <a:ext uri="{FF2B5EF4-FFF2-40B4-BE49-F238E27FC236}">
                <a16:creationId xmlns:a16="http://schemas.microsoft.com/office/drawing/2014/main" id="{462D0659-91F4-4F52-8B9C-EE034EC47CAD}"/>
              </a:ext>
            </a:extLst>
          </p:cNvPr>
          <p:cNvSpPr>
            <a:spLocks xmlns:a="http://schemas.openxmlformats.org/drawingml/2006/main" noGrp="1"/>
          </p:cNvSpPr>
          <p:nvPr/>
        </p:nvSpPr>
        <p:spPr>
          <a:xfrm xmlns:a="http://schemas.openxmlformats.org/drawingml/2006/main">
            <a:off x="8001000" y="6457950"/>
            <a:ext cx="3505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718096"/>
                </a:solidFill>
              </a:defRPr>
            </a:pPr>
            <a:r>
              <a:rPr sz="900" b="0">
                <a:solidFill>
                  <a:srgbClr val="718096"/>
                </a:solidFill>
              </a:rPr>
              <a:t>Aeacusを先行研究としたテーマ案</a:t>
            </a:r>
          </a:p>
        </p:txBody>
      </p:sp>
    </p:spTree>
    <p:extLst>
      <p:ext uri="{BB962C8B-B14F-4D97-AF65-F5344CB8AC3E}">
        <p14:creationId xmlns:p14="http://schemas.microsoft.com/office/powerpoint/2010/main" val="307085019"/>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3F3336E-AABC-4186-A66C-1407B63DB340}"/>
              </a:ext>
            </a:extLst>
          </p:cNvPr>
          <p:cNvSpPr>
            <a:spLocks xmlns:a="http://schemas.openxmlformats.org/drawingml/2006/main" noGrp="1"/>
          </p:cNvSpPr>
          <p:nvPr/>
        </p:nvSpPr>
        <p:spPr>
          <a:xfrm xmlns:a="http://schemas.openxmlformats.org/drawingml/2006/main">
            <a:off x="685800" y="400050"/>
            <a:ext cx="2952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769AA"/>
                </a:solidFill>
              </a:defRPr>
            </a:pPr>
            <a:r>
              <a:rPr sz="975" b="1">
                <a:solidFill>
                  <a:srgbClr val="1769AA"/>
                </a:solidFill>
              </a:rPr>
              <a:t>相談したいこと</a:t>
            </a:r>
          </a:p>
        </p:txBody>
      </p:sp>
      <p:sp>
        <p:nvSpPr>
          <p:cNvPr id="2" name="">
            <a:extLst xmlns:a="http://schemas.openxmlformats.org/drawingml/2006/main">
              <a:ext uri="{FF2B5EF4-FFF2-40B4-BE49-F238E27FC236}">
                <a16:creationId xmlns:a16="http://schemas.microsoft.com/office/drawing/2014/main" id="{C36DBFF6-31A1-45BB-A884-1C2C4DDE371F}"/>
              </a:ext>
            </a:extLst>
          </p:cNvPr>
          <p:cNvSpPr>
            <a:spLocks xmlns:a="http://schemas.openxmlformats.org/drawingml/2006/main" noGrp="1"/>
          </p:cNvSpPr>
          <p:nvPr/>
        </p:nvSpPr>
        <p:spPr>
          <a:xfrm xmlns:a="http://schemas.openxmlformats.org/drawingml/2006/main">
            <a:off x="685800" y="685800"/>
            <a:ext cx="1076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02A43"/>
                </a:solidFill>
              </a:defRPr>
            </a:pPr>
            <a:r>
              <a:rPr sz="2700" b="1">
                <a:solidFill>
                  <a:srgbClr val="102A43"/>
                </a:solidFill>
              </a:rPr>
              <a:t>このテーマが、卒論研究として成立するか</a:t>
            </a:r>
          </a:p>
        </p:txBody>
      </p:sp>
      <p:sp>
        <p:nvSpPr>
          <p:cNvPr id="3" name="">
            <a:extLst xmlns:a="http://schemas.openxmlformats.org/drawingml/2006/main">
              <a:ext uri="{FF2B5EF4-FFF2-40B4-BE49-F238E27FC236}">
                <a16:creationId xmlns:a16="http://schemas.microsoft.com/office/drawing/2014/main" id="{8D5258AC-9939-4385-B0E5-F153FCB3DA57}"/>
              </a:ext>
            </a:extLst>
          </p:cNvPr>
          <p:cNvSpPr>
            <a:spLocks xmlns:a="http://schemas.openxmlformats.org/drawingml/2006/main" noGrp="1"/>
          </p:cNvSpPr>
          <p:nvPr/>
        </p:nvSpPr>
        <p:spPr>
          <a:xfrm xmlns:a="http://schemas.openxmlformats.org/drawingml/2006/main">
            <a:off x="11144250" y="4000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718096"/>
                </a:solidFill>
              </a:defRPr>
            </a:pPr>
            <a:r>
              <a:rPr sz="1050" b="1">
                <a:solidFill>
                  <a:srgbClr val="718096"/>
                </a:solidFill>
              </a:rPr>
              <a:t>08</a:t>
            </a:r>
          </a:p>
        </p:txBody>
      </p:sp>
      <p:sp>
        <p:nvSpPr>
          <p:cNvPr id="4" name="">
            <a:extLst xmlns:a="http://schemas.openxmlformats.org/drawingml/2006/main">
              <a:ext uri="{FF2B5EF4-FFF2-40B4-BE49-F238E27FC236}">
                <a16:creationId xmlns:a16="http://schemas.microsoft.com/office/drawing/2014/main" id="{F852C05D-ADC0-4A98-97FC-D10981125D45}"/>
              </a:ext>
            </a:extLst>
          </p:cNvPr>
          <p:cNvSpPr>
            <a:spLocks xmlns:a="http://schemas.openxmlformats.org/drawingml/2006/main" noGrp="1"/>
          </p:cNvSpPr>
          <p:nvPr/>
        </p:nvSpPr>
        <p:spPr>
          <a:xfrm xmlns:a="http://schemas.openxmlformats.org/drawingml/2006/main">
            <a:off x="685800" y="1314450"/>
            <a:ext cx="10820400" cy="19050"/>
          </a:xfrm>
          <a:prstGeom xmlns:a="http://schemas.openxmlformats.org/drawingml/2006/main" prst="rect">
            <a:avLst/>
          </a:prstGeom>
          <a:solidFill xmlns:a="http://schemas.openxmlformats.org/drawingml/2006/main">
            <a:srgbClr val="E8EEF5"/>
          </a:solidFill>
          <a:ln xmlns:a="http://schemas.openxmlformats.org/drawingml/2006/main" w="0">
            <a:solidFill>
              <a:srgbClr val="E8EEF5"/>
            </a:solidFill>
            <a:prstDash val="solid"/>
          </a:ln>
        </p:spPr>
      </p:sp>
      <p:sp>
        <p:nvSpPr>
          <p:cNvPr id="5" name="">
            <a:extLst xmlns:a="http://schemas.openxmlformats.org/drawingml/2006/main">
              <a:ext uri="{FF2B5EF4-FFF2-40B4-BE49-F238E27FC236}">
                <a16:creationId xmlns:a16="http://schemas.microsoft.com/office/drawing/2014/main" id="{941D7EE2-79EE-48F8-9CD7-A085CFC71858}"/>
              </a:ext>
            </a:extLst>
          </p:cNvPr>
          <p:cNvSpPr>
            <a:spLocks xmlns:a="http://schemas.openxmlformats.org/drawingml/2006/main" noGrp="1"/>
          </p:cNvSpPr>
          <p:nvPr/>
        </p:nvSpPr>
        <p:spPr>
          <a:xfrm xmlns:a="http://schemas.openxmlformats.org/drawingml/2006/main">
            <a:off x="1314450" y="2019300"/>
            <a:ext cx="9563100" cy="1676400"/>
          </a:xfrm>
          <a:prstGeom xmlns:a="http://schemas.openxmlformats.org/drawingml/2006/main" prst="roundRect">
            <a:avLst>
              <a:gd name="adj" fmla="val 6818"/>
            </a:avLst>
          </a:prstGeom>
          <a:solidFill xmlns:a="http://schemas.openxmlformats.org/drawingml/2006/main">
            <a:srgbClr val="E8F2FB"/>
          </a:solidFill>
          <a:ln xmlns:a="http://schemas.openxmlformats.org/drawingml/2006/main" w="9525">
            <a:solidFill>
              <a:srgbClr val="1769AA"/>
            </a:solidFill>
            <a:prstDash val="solid"/>
          </a:ln>
        </p:spPr>
      </p:sp>
      <p:sp>
        <p:nvSpPr>
          <p:cNvPr id="6" name="">
            <a:extLst xmlns:a="http://schemas.openxmlformats.org/drawingml/2006/main">
              <a:ext uri="{FF2B5EF4-FFF2-40B4-BE49-F238E27FC236}">
                <a16:creationId xmlns:a16="http://schemas.microsoft.com/office/drawing/2014/main" id="{FAF0DA9E-93FE-4857-B18D-BD53127BEC9C}"/>
              </a:ext>
            </a:extLst>
          </p:cNvPr>
          <p:cNvSpPr>
            <a:spLocks xmlns:a="http://schemas.openxmlformats.org/drawingml/2006/main" noGrp="1"/>
          </p:cNvSpPr>
          <p:nvPr/>
        </p:nvSpPr>
        <p:spPr>
          <a:xfrm xmlns:a="http://schemas.openxmlformats.org/drawingml/2006/main">
            <a:off x="1790700" y="2352675"/>
            <a:ext cx="86106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75" b="1">
                <a:solidFill>
                  <a:srgbClr val="102A43"/>
                </a:solidFill>
              </a:defRPr>
            </a:pPr>
            <a:r>
              <a:rPr sz="2475" b="1">
                <a:solidFill>
                  <a:srgbClr val="102A43"/>
                </a:solidFill>
              </a:rPr>
              <a:t>Aeacusを先行研究として、QUICタイムアウトの原因分類と</a:t>
            </a:r>
          </a:p>
          <a:p xmlns:a="http://schemas.openxmlformats.org/drawingml/2006/main">
            <a:pPr algn="ctr">
              <a:defRPr sz="2475" b="1">
                <a:solidFill>
                  <a:srgbClr val="102A43"/>
                </a:solidFill>
              </a:defRPr>
            </a:pPr>
            <a:r>
              <a:rPr sz="2475" b="1">
                <a:solidFill>
                  <a:srgbClr val="102A43"/>
                </a:solidFill>
              </a:rPr>
              <a:t>DNSキャッシュ制御の改善可能性を調べるテーマは、</a:t>
            </a:r>
          </a:p>
          <a:p xmlns:a="http://schemas.openxmlformats.org/drawingml/2006/main">
            <a:pPr algn="ctr">
              <a:defRPr sz="2475" b="1">
                <a:solidFill>
                  <a:srgbClr val="102A43"/>
                </a:solidFill>
              </a:defRPr>
            </a:pPr>
            <a:r>
              <a:rPr sz="2475" b="1">
                <a:solidFill>
                  <a:srgbClr val="102A43"/>
                </a:solidFill>
              </a:rPr>
              <a:t>卒論研究として成立するか</a:t>
            </a:r>
          </a:p>
        </p:txBody>
      </p:sp>
      <p:sp>
        <p:nvSpPr>
          <p:cNvPr id="7" name="">
            <a:extLst xmlns:a="http://schemas.openxmlformats.org/drawingml/2006/main">
              <a:ext uri="{FF2B5EF4-FFF2-40B4-BE49-F238E27FC236}">
                <a16:creationId xmlns:a16="http://schemas.microsoft.com/office/drawing/2014/main" id="{764D4183-7F76-4D1D-8988-770D282A0E11}"/>
              </a:ext>
            </a:extLst>
          </p:cNvPr>
          <p:cNvSpPr>
            <a:spLocks xmlns:a="http://schemas.openxmlformats.org/drawingml/2006/main" noGrp="1"/>
          </p:cNvSpPr>
          <p:nvPr/>
        </p:nvSpPr>
        <p:spPr>
          <a:xfrm xmlns:a="http://schemas.openxmlformats.org/drawingml/2006/main">
            <a:off x="2571750" y="4429125"/>
            <a:ext cx="704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52616B"/>
                </a:solidFill>
              </a:defRPr>
            </a:pPr>
            <a:r>
              <a:rPr sz="1500" b="1">
                <a:solidFill>
                  <a:srgbClr val="52616B"/>
                </a:solidFill>
              </a:rPr>
              <a:t>ご意見をいただきたい観点</a:t>
            </a:r>
          </a:p>
        </p:txBody>
      </p:sp>
      <p:sp>
        <p:nvSpPr>
          <p:cNvPr id="8" name="">
            <a:extLst xmlns:a="http://schemas.openxmlformats.org/drawingml/2006/main">
              <a:ext uri="{FF2B5EF4-FFF2-40B4-BE49-F238E27FC236}">
                <a16:creationId xmlns:a16="http://schemas.microsoft.com/office/drawing/2014/main" id="{809D4459-3004-41F1-A6EB-4FB30AE19825}"/>
              </a:ext>
            </a:extLst>
          </p:cNvPr>
          <p:cNvSpPr>
            <a:spLocks xmlns:a="http://schemas.openxmlformats.org/drawingml/2006/main" noGrp="1"/>
          </p:cNvSpPr>
          <p:nvPr/>
        </p:nvSpPr>
        <p:spPr>
          <a:xfrm xmlns:a="http://schemas.openxmlformats.org/drawingml/2006/main">
            <a:off x="1847850" y="4914900"/>
            <a:ext cx="2381250" cy="323850"/>
          </a:xfrm>
          <a:prstGeom xmlns:a="http://schemas.openxmlformats.org/drawingml/2006/main" prst="roundRect">
            <a:avLst>
              <a:gd name="adj" fmla="val 35294"/>
            </a:avLst>
          </a:prstGeom>
          <a:solidFill xmlns:a="http://schemas.openxmlformats.org/drawingml/2006/main">
            <a:srgbClr val="E8F2FB"/>
          </a:solidFill>
          <a:ln xmlns:a="http://schemas.openxmlformats.org/drawingml/2006/main" w="9525">
            <a:solidFill>
              <a:srgbClr val="E8F2FB"/>
            </a:solidFill>
            <a:prstDash val="solid"/>
          </a:ln>
        </p:spPr>
      </p:sp>
      <p:sp>
        <p:nvSpPr>
          <p:cNvPr id="9" name="">
            <a:extLst xmlns:a="http://schemas.openxmlformats.org/drawingml/2006/main">
              <a:ext uri="{FF2B5EF4-FFF2-40B4-BE49-F238E27FC236}">
                <a16:creationId xmlns:a16="http://schemas.microsoft.com/office/drawing/2014/main" id="{E48087ED-6F4A-4FF8-9A5C-8F5CF2AE7810}"/>
              </a:ext>
            </a:extLst>
          </p:cNvPr>
          <p:cNvSpPr>
            <a:spLocks xmlns:a="http://schemas.openxmlformats.org/drawingml/2006/main" noGrp="1"/>
          </p:cNvSpPr>
          <p:nvPr/>
        </p:nvSpPr>
        <p:spPr>
          <a:xfrm xmlns:a="http://schemas.openxmlformats.org/drawingml/2006/main">
            <a:off x="1924050" y="4981575"/>
            <a:ext cx="2228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769AA"/>
                </a:solidFill>
              </a:defRPr>
            </a:pPr>
            <a:r>
              <a:rPr sz="1125" b="1">
                <a:solidFill>
                  <a:srgbClr val="1769AA"/>
                </a:solidFill>
              </a:rPr>
              <a:t>先行研究との差分</a:t>
            </a:r>
          </a:p>
        </p:txBody>
      </p:sp>
      <p:sp>
        <p:nvSpPr>
          <p:cNvPr id="10" name="">
            <a:extLst xmlns:a="http://schemas.openxmlformats.org/drawingml/2006/main">
              <a:ext uri="{FF2B5EF4-FFF2-40B4-BE49-F238E27FC236}">
                <a16:creationId xmlns:a16="http://schemas.microsoft.com/office/drawing/2014/main" id="{B8942D9B-242E-42F9-94DA-EA89977915D4}"/>
              </a:ext>
            </a:extLst>
          </p:cNvPr>
          <p:cNvSpPr>
            <a:spLocks xmlns:a="http://schemas.openxmlformats.org/drawingml/2006/main" noGrp="1"/>
          </p:cNvSpPr>
          <p:nvPr/>
        </p:nvSpPr>
        <p:spPr>
          <a:xfrm xmlns:a="http://schemas.openxmlformats.org/drawingml/2006/main">
            <a:off x="4857750" y="4914900"/>
            <a:ext cx="2857500" cy="323850"/>
          </a:xfrm>
          <a:prstGeom xmlns:a="http://schemas.openxmlformats.org/drawingml/2006/main" prst="roundRect">
            <a:avLst>
              <a:gd name="adj" fmla="val 35294"/>
            </a:avLst>
          </a:prstGeom>
          <a:solidFill xmlns:a="http://schemas.openxmlformats.org/drawingml/2006/main">
            <a:srgbClr val="E8F2FB"/>
          </a:solidFill>
          <a:ln xmlns:a="http://schemas.openxmlformats.org/drawingml/2006/main" w="9525">
            <a:solidFill>
              <a:srgbClr val="E8F2FB"/>
            </a:solidFill>
            <a:prstDash val="solid"/>
          </a:ln>
        </p:spPr>
      </p:sp>
      <p:sp>
        <p:nvSpPr>
          <p:cNvPr id="11" name="">
            <a:extLst xmlns:a="http://schemas.openxmlformats.org/drawingml/2006/main">
              <a:ext uri="{FF2B5EF4-FFF2-40B4-BE49-F238E27FC236}">
                <a16:creationId xmlns:a16="http://schemas.microsoft.com/office/drawing/2014/main" id="{78F9E470-853C-4FC2-8AD5-C81269138BA7}"/>
              </a:ext>
            </a:extLst>
          </p:cNvPr>
          <p:cNvSpPr>
            <a:spLocks xmlns:a="http://schemas.openxmlformats.org/drawingml/2006/main" noGrp="1"/>
          </p:cNvSpPr>
          <p:nvPr/>
        </p:nvSpPr>
        <p:spPr>
          <a:xfrm xmlns:a="http://schemas.openxmlformats.org/drawingml/2006/main">
            <a:off x="4933950" y="4981575"/>
            <a:ext cx="2705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769AA"/>
                </a:solidFill>
              </a:defRPr>
            </a:pPr>
            <a:r>
              <a:rPr sz="1125" b="1">
                <a:solidFill>
                  <a:srgbClr val="1769AA"/>
                </a:solidFill>
              </a:rPr>
              <a:t>研究としての新規性・有用性</a:t>
            </a:r>
          </a:p>
        </p:txBody>
      </p:sp>
      <p:sp>
        <p:nvSpPr>
          <p:cNvPr id="12" name="">
            <a:extLst xmlns:a="http://schemas.openxmlformats.org/drawingml/2006/main">
              <a:ext uri="{FF2B5EF4-FFF2-40B4-BE49-F238E27FC236}">
                <a16:creationId xmlns:a16="http://schemas.microsoft.com/office/drawing/2014/main" id="{5E43D316-DE7D-4393-B10D-CB6F9EA050C2}"/>
              </a:ext>
            </a:extLst>
          </p:cNvPr>
          <p:cNvSpPr>
            <a:spLocks xmlns:a="http://schemas.openxmlformats.org/drawingml/2006/main" noGrp="1"/>
          </p:cNvSpPr>
          <p:nvPr/>
        </p:nvSpPr>
        <p:spPr>
          <a:xfrm xmlns:a="http://schemas.openxmlformats.org/drawingml/2006/main">
            <a:off x="8343900" y="4914900"/>
            <a:ext cx="2571750" cy="323850"/>
          </a:xfrm>
          <a:prstGeom xmlns:a="http://schemas.openxmlformats.org/drawingml/2006/main" prst="roundRect">
            <a:avLst>
              <a:gd name="adj" fmla="val 35294"/>
            </a:avLst>
          </a:prstGeom>
          <a:solidFill xmlns:a="http://schemas.openxmlformats.org/drawingml/2006/main">
            <a:srgbClr val="E8F2FB"/>
          </a:solidFill>
          <a:ln xmlns:a="http://schemas.openxmlformats.org/drawingml/2006/main" w="9525">
            <a:solidFill>
              <a:srgbClr val="E8F2FB"/>
            </a:solidFill>
            <a:prstDash val="solid"/>
          </a:ln>
        </p:spPr>
      </p:sp>
      <p:sp>
        <p:nvSpPr>
          <p:cNvPr id="13" name="">
            <a:extLst xmlns:a="http://schemas.openxmlformats.org/drawingml/2006/main">
              <a:ext uri="{FF2B5EF4-FFF2-40B4-BE49-F238E27FC236}">
                <a16:creationId xmlns:a16="http://schemas.microsoft.com/office/drawing/2014/main" id="{A01B0862-9854-4E61-8B32-F23CE483102B}"/>
              </a:ext>
            </a:extLst>
          </p:cNvPr>
          <p:cNvSpPr>
            <a:spLocks xmlns:a="http://schemas.openxmlformats.org/drawingml/2006/main" noGrp="1"/>
          </p:cNvSpPr>
          <p:nvPr/>
        </p:nvSpPr>
        <p:spPr>
          <a:xfrm xmlns:a="http://schemas.openxmlformats.org/drawingml/2006/main">
            <a:off x="8420100" y="4981575"/>
            <a:ext cx="2419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769AA"/>
                </a:solidFill>
              </a:defRPr>
            </a:pPr>
            <a:r>
              <a:rPr sz="1125" b="1">
                <a:solidFill>
                  <a:srgbClr val="1769AA"/>
                </a:solidFill>
              </a:rPr>
              <a:t>学部卒論として検証可能な規模</a:t>
            </a:r>
          </a:p>
        </p:txBody>
      </p:sp>
      <p:sp>
        <p:nvSpPr>
          <p:cNvPr id="14" name="">
            <a:extLst xmlns:a="http://schemas.openxmlformats.org/drawingml/2006/main">
              <a:ext uri="{FF2B5EF4-FFF2-40B4-BE49-F238E27FC236}">
                <a16:creationId xmlns:a16="http://schemas.microsoft.com/office/drawing/2014/main" id="{CBCFC6C0-F71D-457C-B0E0-E3E2CA40F0D2}"/>
              </a:ext>
            </a:extLst>
          </p:cNvPr>
          <p:cNvSpPr>
            <a:spLocks xmlns:a="http://schemas.openxmlformats.org/drawingml/2006/main" noGrp="1"/>
          </p:cNvSpPr>
          <p:nvPr/>
        </p:nvSpPr>
        <p:spPr>
          <a:xfrm xmlns:a="http://schemas.openxmlformats.org/drawingml/2006/main">
            <a:off x="1524000" y="5962650"/>
            <a:ext cx="914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718096"/>
                </a:solidFill>
              </a:defRPr>
            </a:pPr>
            <a:r>
              <a:rPr sz="1275" b="0">
                <a:solidFill>
                  <a:srgbClr val="718096"/>
                </a:solidFill>
              </a:rPr>
              <a:t>※ 個別の実装方式を決めるための相談ではなく、テーマの妥当性についての相談です</a:t>
            </a:r>
          </a:p>
        </p:txBody>
      </p:sp>
      <p:sp>
        <p:nvSpPr>
          <p:cNvPr id="15" name="">
            <a:extLst xmlns:a="http://schemas.openxmlformats.org/drawingml/2006/main">
              <a:ext uri="{FF2B5EF4-FFF2-40B4-BE49-F238E27FC236}">
                <a16:creationId xmlns:a16="http://schemas.microsoft.com/office/drawing/2014/main" id="{BCECDB63-AE12-491F-9DB3-72F159963B22}"/>
              </a:ext>
            </a:extLst>
          </p:cNvPr>
          <p:cNvSpPr>
            <a:spLocks xmlns:a="http://schemas.openxmlformats.org/drawingml/2006/main" noGrp="1"/>
          </p:cNvSpPr>
          <p:nvPr/>
        </p:nvSpPr>
        <p:spPr>
          <a:xfrm xmlns:a="http://schemas.openxmlformats.org/drawingml/2006/main">
            <a:off x="685800" y="6457950"/>
            <a:ext cx="295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18096"/>
                </a:solidFill>
              </a:defRPr>
            </a:pPr>
            <a:r>
              <a:rPr sz="900" b="0">
                <a:solidFill>
                  <a:srgbClr val="718096"/>
                </a:solidFill>
              </a:rPr>
              <a:t>卒論テーマ相談（相談事項はこの1点）</a:t>
            </a:r>
          </a:p>
        </p:txBody>
      </p:sp>
      <p:sp>
        <p:nvSpPr>
          <p:cNvPr id="16" name="">
            <a:extLst xmlns:a="http://schemas.openxmlformats.org/drawingml/2006/main">
              <a:ext uri="{FF2B5EF4-FFF2-40B4-BE49-F238E27FC236}">
                <a16:creationId xmlns:a16="http://schemas.microsoft.com/office/drawing/2014/main" id="{92A98999-D0AB-463C-AB8F-EC1974306680}"/>
              </a:ext>
            </a:extLst>
          </p:cNvPr>
          <p:cNvSpPr>
            <a:spLocks xmlns:a="http://schemas.openxmlformats.org/drawingml/2006/main" noGrp="1"/>
          </p:cNvSpPr>
          <p:nvPr/>
        </p:nvSpPr>
        <p:spPr>
          <a:xfrm xmlns:a="http://schemas.openxmlformats.org/drawingml/2006/main">
            <a:off x="8001000" y="6457950"/>
            <a:ext cx="3505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718096"/>
                </a:solidFill>
              </a:defRPr>
            </a:pPr>
            <a:r>
              <a:rPr sz="900" b="0">
                <a:solidFill>
                  <a:srgbClr val="718096"/>
                </a:solidFill>
              </a:rPr>
              <a:t>Aeacusを先行研究としたテーマ案</a:t>
            </a:r>
          </a:p>
        </p:txBody>
      </p:sp>
    </p:spTree>
    <p:extLst>
      <p:ext uri="{BB962C8B-B14F-4D97-AF65-F5344CB8AC3E}">
        <p14:creationId xmlns:p14="http://schemas.microsoft.com/office/powerpoint/2010/main" val="19601438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2026-08-15T06:43:18.0540000Z</dcterms:created>
  <dcterms:modified xsi:type="dcterms:W3CDTF">2026-08-15T06:43:18.0540000Z</dcterms:modified>
</coreProperties>
</file>